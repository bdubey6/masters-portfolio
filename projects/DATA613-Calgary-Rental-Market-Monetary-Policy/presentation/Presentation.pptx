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Lst>
  <p:notesMasterIdLst>
    <p:notesMasterId r:id="rId3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5" r:id="rId30"/>
    <p:sldId id="286" r:id="rId31"/>
    <p:sldId id="287" r:id="rId32"/>
    <p:sldId id="288" r:id="rId33"/>
    <p:sldId id="289" r:id="rId34"/>
    <p:sldId id="290"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SAHB86MyY9cGPg9TY8o2Et7Ap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39" autoAdjust="0"/>
  </p:normalViewPr>
  <p:slideViewPr>
    <p:cSldViewPr snapToGrid="0">
      <p:cViewPr varScale="1">
        <p:scale>
          <a:sx n="66" d="100"/>
          <a:sy n="66" d="100"/>
        </p:scale>
        <p:origin x="1301"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CA" dirty="0"/>
          </a:p>
        </p:txBody>
      </p:sp>
      <p:sp>
        <p:nvSpPr>
          <p:cNvPr id="100" name="Google Shape;10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Housing affordability has become a growing concern across Canada, with Alberta experiencing some of the most significant challenges. According to Statistics Canada, the rising housing costs are impacting both the homeowners and renters. Calgary’s housing market, in particular, has experienced rapid changes driven by a combination of population growth and economic shifts. The increasing costs are straining household budgets. This situation shows the importance of doing a policy analysis for future housing strategies.</a:t>
            </a:r>
            <a:endParaRPr lang="en-CA" dirty="0"/>
          </a:p>
        </p:txBody>
      </p:sp>
      <p:sp>
        <p:nvSpPr>
          <p:cNvPr id="110" name="Google Shape;11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2022, the Bank of Canada has been raising interest rates quite sharply to control inflation. These increases make borrowing more expensive for everyone. As a result, fewer people are choosing to buy, and the demand for rental housing has shifted upward. This has affected vacancy rates and rental prices across the country, including Calgary. What we want to understand is how these macroeconomic policies—interest rate changes—are actually impacting the rental market here. Our goal is to examine the link between the Bank of Canada's interest rate and rental market outcomes in Calgary by 2026. </a:t>
            </a:r>
            <a:endParaRPr lang="en-CA" dirty="0"/>
          </a:p>
        </p:txBody>
      </p:sp>
      <p:sp>
        <p:nvSpPr>
          <p:cNvPr id="119" name="Google Shape;11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key questions for our research is: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How does</a:t>
            </a:r>
            <a:r>
              <a:rPr lang="en-US" dirty="0"/>
              <a:t> </a:t>
            </a:r>
            <a:r>
              <a:rPr lang="en-US" b="1" dirty="0"/>
              <a:t>the Bank of Canada’s policy rate predict rental inventory in Calgary?  </a:t>
            </a:r>
            <a:r>
              <a:rPr lang="en-US" b="0" dirty="0"/>
              <a:t>Our</a:t>
            </a:r>
            <a:r>
              <a:rPr lang="en-US" b="1" dirty="0"/>
              <a:t> </a:t>
            </a:r>
            <a:r>
              <a:rPr lang="en-US" b="0" dirty="0" err="1"/>
              <a:t>sec</a:t>
            </a:r>
            <a:r>
              <a:rPr lang="en-US" dirty="0" err="1"/>
              <a:t>ondory</a:t>
            </a:r>
            <a:r>
              <a:rPr lang="en-US" dirty="0"/>
              <a:t> question was</a:t>
            </a:r>
            <a:r>
              <a:rPr lang="en-US" b="1" dirty="0"/>
              <a:t> </a:t>
            </a:r>
            <a:r>
              <a:rPr lang="en-US" b="0" dirty="0"/>
              <a:t>d</a:t>
            </a:r>
            <a:r>
              <a:rPr lang="en-US" dirty="0"/>
              <a:t>oes the sensitivity to interest rates differ between "Full Homes" and "Apartments"? And  Is there a statistically significant lag (e.g., 3 months) between rate change and rental price response? </a:t>
            </a: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second key question was </a:t>
            </a:r>
            <a:r>
              <a:rPr lang="en-US" b="1" dirty="0"/>
              <a:t>What is the impact of property features (bedrooms, size) on rental prices?</a:t>
            </a:r>
            <a:r>
              <a:rPr lang="en-US" dirty="0"/>
              <a:t> After controlling for size does the "Shared" segment still offer lower rents?</a:t>
            </a: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final question was </a:t>
            </a:r>
            <a:r>
              <a:rPr lang="en-US" b="1" dirty="0"/>
              <a:t>Can landlord incentives (rent discounts, free months) be predicted based on market conditions?</a:t>
            </a:r>
            <a:r>
              <a:rPr lang="en-US" dirty="0"/>
              <a:t> </a:t>
            </a:r>
            <a:r>
              <a:rPr lang="en-US" dirty="0" err="1"/>
              <a:t>Particulary</a:t>
            </a:r>
            <a:r>
              <a:rPr lang="en-US" dirty="0"/>
              <a:t>, we looked at How incentives vary across rent segments and whether incentives are more common in high vacancy segments?</a:t>
            </a: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141" name="Google Shape;14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167" name="Google Shape;167;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194" name="Google Shape;19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200" name="Google Shape;20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206" name="Google Shape;20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234" name="Google Shape;23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240" name="Google Shape;24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Our first objective is to determine whether changes in the policy rate of the Bank of Canada predict rental supply in Calgary.  </a:t>
            </a:r>
          </a:p>
          <a:p>
            <a:pPr marL="158750" indent="0">
              <a:buNone/>
            </a:pPr>
            <a:r>
              <a:rPr lang="en-US" dirty="0"/>
              <a:t>The hypothesis was that Interest rates influence rental supply, with higher rates potentially reducing demand for home purchases and increasing rental inventory.  </a:t>
            </a:r>
          </a:p>
          <a:p>
            <a:pPr marL="158750" indent="0">
              <a:buNone/>
            </a:pPr>
            <a:r>
              <a:rPr lang="en-US" dirty="0"/>
              <a:t>To test this, we used a simple linear regression model where we looked at Rental Inventory relationship with policy rate</a:t>
            </a:r>
          </a:p>
        </p:txBody>
      </p:sp>
      <p:sp>
        <p:nvSpPr>
          <p:cNvPr id="249" name="Google Shape;24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To answer our question - We created a scatterplot which shows the relationship between the Bank of Canada's policy rate and rental inventory levels in Calgary. This plot shows the clustering of rental inventory around a policy rate of 2.25%. So no clear trend indicates a direct influence of interest rates on rental supply during this period.</a:t>
            </a:r>
            <a:endParaRPr lang="en-CA" dirty="0"/>
          </a:p>
        </p:txBody>
      </p:sp>
      <p:sp>
        <p:nvSpPr>
          <p:cNvPr id="255" name="Google Shape;25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Our regression results indicate that the coefficient for the policy rate is close to zero and statistically insignificant. This suggests that, during 2026, changes in the policy rate did not have a direct impact on rental supply in Calgary. </a:t>
            </a:r>
          </a:p>
          <a:p>
            <a:endParaRPr lang="en-US" dirty="0"/>
          </a:p>
          <a:p>
            <a:pPr marL="158750" indent="0">
              <a:buNone/>
            </a:pPr>
            <a:r>
              <a:rPr lang="en-US" dirty="0"/>
              <a:t>Instead, factors like housing starts, regional migration, and local economic conditions are likely more influential.</a:t>
            </a:r>
            <a:endParaRPr lang="en-CA" dirty="0"/>
          </a:p>
        </p:txBody>
      </p:sp>
      <p:sp>
        <p:nvSpPr>
          <p:cNvPr id="262" name="Google Shape;26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We also did a cross-correlation analysis, where we examined whether rental prices respond with a delay following interest rate adjustments. Our findings point to a lag of approximately 3 to 6 months, meaning that the market takes some time to adjust to monetary policy changes. This insight emphasizes the importance of considering time delays when evaluating policy impacts.</a:t>
            </a:r>
            <a:endParaRPr lang="en-CA" dirty="0"/>
          </a:p>
        </p:txBody>
      </p:sp>
      <p:sp>
        <p:nvSpPr>
          <p:cNvPr id="273" name="Google Shape;27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summary, short-term interest rate shifts did not significantly predict rental inventory. Rent prices show delayed response (3-6 months). Instead, local supply surges and migration trends played a more prominent role.</a:t>
            </a:r>
            <a:endParaRPr lang="en-CA" dirty="0"/>
          </a:p>
        </p:txBody>
      </p:sp>
      <p:sp>
        <p:nvSpPr>
          <p:cNvPr id="280" name="Google Shape;28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286" name="Google Shape;286;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292" name="Google Shape;29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301" name="Google Shape;3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308" name="Google Shape;30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gurm</a:t>
            </a:r>
            <a:endParaRPr/>
          </a:p>
        </p:txBody>
      </p:sp>
      <p:sp>
        <p:nvSpPr>
          <p:cNvPr id="315" name="Google Shape;315;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21" name="Google Shape;321;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86b59435a4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27" name="Google Shape;327;g386b59435a4_3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86b59435a4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33" name="Google Shape;333;g386b59435a4_3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86b59435a4_3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39" name="Google Shape;339;g386b59435a4_3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86b59435a4_3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46" name="Google Shape;346;g386b59435a4_3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86b59435a4_3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53" name="Google Shape;353;g386b59435a4_3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60" name="Google Shape;36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84" name="Google Shape;384;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90" name="Google Shape;390;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396" name="Google Shape;396;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402" name="Google Shape;402;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WIth so many variables impacting Calgary’s housing market - Data driven housing policy is the way to go</a:t>
            </a:r>
            <a:endParaRPr/>
          </a:p>
          <a:p>
            <a:pPr marL="0" lvl="0" indent="0" algn="l" rtl="0">
              <a:spcBef>
                <a:spcPts val="0"/>
              </a:spcBef>
              <a:spcAft>
                <a:spcPts val="0"/>
              </a:spcAft>
              <a:buNone/>
            </a:pPr>
            <a:endParaRPr/>
          </a:p>
          <a:p>
            <a:pPr marL="0" lvl="0" indent="0" algn="l" rtl="0">
              <a:spcBef>
                <a:spcPts val="0"/>
              </a:spcBef>
              <a:spcAft>
                <a:spcPts val="0"/>
              </a:spcAft>
              <a:buNone/>
            </a:pPr>
            <a:r>
              <a:rPr lang="en-US"/>
              <a:t>bilal</a:t>
            </a:r>
            <a:endParaRPr/>
          </a:p>
        </p:txBody>
      </p:sp>
      <p:sp>
        <p:nvSpPr>
          <p:cNvPr id="408" name="Google Shape;408;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bilal</a:t>
            </a:r>
            <a:endParaRPr/>
          </a:p>
        </p:txBody>
      </p:sp>
      <p:sp>
        <p:nvSpPr>
          <p:cNvPr id="420" name="Google Shape;420;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34"/>
          <p:cNvSpPr/>
          <p:nvPr/>
        </p:nvSpPr>
        <p:spPr>
          <a:xfrm>
            <a:off x="517870" y="6209925"/>
            <a:ext cx="11155680" cy="45719"/>
          </a:xfrm>
          <a:custGeom>
            <a:avLst/>
            <a:gdLst/>
            <a:ahLst/>
            <a:cxnLst/>
            <a:rect l="l" t="t" r="r" b="b"/>
            <a:pathLst>
              <a:path w="8715708" h="45719" extrusionOk="0">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 name="Google Shape;14;p34"/>
          <p:cNvSpPr txBox="1">
            <a:spLocks noGrp="1"/>
          </p:cNvSpPr>
          <p:nvPr>
            <p:ph type="ctrTitle"/>
          </p:nvPr>
        </p:nvSpPr>
        <p:spPr>
          <a:xfrm>
            <a:off x="521208" y="978408"/>
            <a:ext cx="11155680" cy="3429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lt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34"/>
          <p:cNvSpPr txBox="1">
            <a:spLocks noGrp="1"/>
          </p:cNvSpPr>
          <p:nvPr>
            <p:ph type="subTitle" idx="1"/>
          </p:nvPr>
        </p:nvSpPr>
        <p:spPr>
          <a:xfrm>
            <a:off x="521208" y="4480560"/>
            <a:ext cx="7104888" cy="1399032"/>
          </a:xfrm>
          <a:prstGeom prst="rect">
            <a:avLst/>
          </a:prstGeom>
          <a:noFill/>
          <a:ln>
            <a:noFill/>
          </a:ln>
        </p:spPr>
        <p:txBody>
          <a:bodyPr spcFirstLastPara="1" wrap="square" lIns="91425" tIns="45700" rIns="91425" bIns="45700" anchor="b" anchorCtr="0">
            <a:normAutofit/>
          </a:bodyPr>
          <a:lstStyle>
            <a:lvl1pPr lvl="0" algn="l">
              <a:lnSpc>
                <a:spcPct val="110000"/>
              </a:lnSpc>
              <a:spcBef>
                <a:spcPts val="1000"/>
              </a:spcBef>
              <a:spcAft>
                <a:spcPts val="0"/>
              </a:spcAft>
              <a:buClr>
                <a:schemeClr val="lt1"/>
              </a:buClr>
              <a:buSzPts val="2200"/>
              <a:buNone/>
              <a:defRPr sz="2200" i="1"/>
            </a:lvl1pPr>
            <a:lvl2pPr lvl="1" algn="ctr">
              <a:lnSpc>
                <a:spcPct val="110000"/>
              </a:lnSpc>
              <a:spcBef>
                <a:spcPts val="500"/>
              </a:spcBef>
              <a:spcAft>
                <a:spcPts val="0"/>
              </a:spcAft>
              <a:buClr>
                <a:schemeClr val="lt1"/>
              </a:buClr>
              <a:buSzPts val="2000"/>
              <a:buNone/>
              <a:defRPr sz="2000"/>
            </a:lvl2pPr>
            <a:lvl3pPr lvl="2" algn="ctr">
              <a:lnSpc>
                <a:spcPct val="110000"/>
              </a:lnSpc>
              <a:spcBef>
                <a:spcPts val="500"/>
              </a:spcBef>
              <a:spcAft>
                <a:spcPts val="0"/>
              </a:spcAft>
              <a:buClr>
                <a:schemeClr val="lt1"/>
              </a:buClr>
              <a:buSzPts val="1800"/>
              <a:buNone/>
              <a:defRPr sz="1800"/>
            </a:lvl3pPr>
            <a:lvl4pPr lvl="3" algn="ctr">
              <a:lnSpc>
                <a:spcPct val="110000"/>
              </a:lnSpc>
              <a:spcBef>
                <a:spcPts val="500"/>
              </a:spcBef>
              <a:spcAft>
                <a:spcPts val="0"/>
              </a:spcAft>
              <a:buClr>
                <a:schemeClr val="lt1"/>
              </a:buClr>
              <a:buSzPts val="1600"/>
              <a:buNone/>
              <a:defRPr sz="1600"/>
            </a:lvl4pPr>
            <a:lvl5pPr lvl="4" algn="ctr">
              <a:lnSpc>
                <a:spcPct val="11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34"/>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4"/>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4"/>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35"/>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5"/>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5"/>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5"/>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5"/>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
        <p:cNvGrpSpPr/>
        <p:nvPr/>
      </p:nvGrpSpPr>
      <p:grpSpPr>
        <a:xfrm>
          <a:off x="0" y="0"/>
          <a:ext cx="0" cy="0"/>
          <a:chOff x="0" y="0"/>
          <a:chExt cx="0" cy="0"/>
        </a:xfrm>
      </p:grpSpPr>
      <p:sp>
        <p:nvSpPr>
          <p:cNvPr id="33" name="Google Shape;33;p33"/>
          <p:cNvSpPr/>
          <p:nvPr/>
        </p:nvSpPr>
        <p:spPr>
          <a:xfrm>
            <a:off x="517870" y="6209925"/>
            <a:ext cx="11155680" cy="45719"/>
          </a:xfrm>
          <a:custGeom>
            <a:avLst/>
            <a:gdLst/>
            <a:ahLst/>
            <a:cxnLst/>
            <a:rect l="l" t="t" r="r" b="b"/>
            <a:pathLst>
              <a:path w="8715708" h="45719" extrusionOk="0">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 name="Google Shape;34;p33"/>
          <p:cNvSpPr txBox="1">
            <a:spLocks noGrp="1"/>
          </p:cNvSpPr>
          <p:nvPr>
            <p:ph type="ctrTitle"/>
          </p:nvPr>
        </p:nvSpPr>
        <p:spPr>
          <a:xfrm>
            <a:off x="521208" y="978408"/>
            <a:ext cx="11155680" cy="3429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3"/>
          <p:cNvSpPr txBox="1">
            <a:spLocks noGrp="1"/>
          </p:cNvSpPr>
          <p:nvPr>
            <p:ph type="subTitle" idx="1"/>
          </p:nvPr>
        </p:nvSpPr>
        <p:spPr>
          <a:xfrm>
            <a:off x="521208" y="4480560"/>
            <a:ext cx="7104888" cy="1399032"/>
          </a:xfrm>
          <a:prstGeom prst="rect">
            <a:avLst/>
          </a:prstGeom>
          <a:noFill/>
          <a:ln>
            <a:noFill/>
          </a:ln>
        </p:spPr>
        <p:txBody>
          <a:bodyPr spcFirstLastPara="1" wrap="square" lIns="91425" tIns="45700" rIns="91425" bIns="45700" anchor="b" anchorCtr="0">
            <a:normAutofit/>
          </a:bodyPr>
          <a:lstStyle>
            <a:lvl1pPr lvl="0" algn="l">
              <a:lnSpc>
                <a:spcPct val="110000"/>
              </a:lnSpc>
              <a:spcBef>
                <a:spcPts val="1000"/>
              </a:spcBef>
              <a:spcAft>
                <a:spcPts val="0"/>
              </a:spcAft>
              <a:buClr>
                <a:schemeClr val="dk1"/>
              </a:buClr>
              <a:buSzPts val="2200"/>
              <a:buNone/>
              <a:defRPr sz="2200" i="1"/>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33"/>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3"/>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9"/>
        <p:cNvGrpSpPr/>
        <p:nvPr/>
      </p:nvGrpSpPr>
      <p:grpSpPr>
        <a:xfrm>
          <a:off x="0" y="0"/>
          <a:ext cx="0" cy="0"/>
          <a:chOff x="0" y="0"/>
          <a:chExt cx="0" cy="0"/>
        </a:xfrm>
      </p:grpSpPr>
      <p:sp>
        <p:nvSpPr>
          <p:cNvPr id="40" name="Google Shape;40;p36"/>
          <p:cNvSpPr txBox="1">
            <a:spLocks noGrp="1"/>
          </p:cNvSpPr>
          <p:nvPr>
            <p:ph type="title"/>
          </p:nvPr>
        </p:nvSpPr>
        <p:spPr>
          <a:xfrm>
            <a:off x="521208" y="978408"/>
            <a:ext cx="5020056" cy="428853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6"/>
          <p:cNvSpPr txBox="1">
            <a:spLocks noGrp="1"/>
          </p:cNvSpPr>
          <p:nvPr>
            <p:ph type="body" idx="1"/>
          </p:nvPr>
        </p:nvSpPr>
        <p:spPr>
          <a:xfrm>
            <a:off x="521208" y="5266944"/>
            <a:ext cx="5020056" cy="1088136"/>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rgbClr val="757575"/>
              </a:buClr>
              <a:buSzPts val="2200"/>
              <a:buNone/>
              <a:defRPr sz="2200" i="1">
                <a:solidFill>
                  <a:srgbClr val="757575"/>
                </a:solidFill>
              </a:defRPr>
            </a:lvl1pPr>
            <a:lvl2pPr marL="914400" lvl="1" indent="-228600" algn="l">
              <a:lnSpc>
                <a:spcPct val="110000"/>
              </a:lnSpc>
              <a:spcBef>
                <a:spcPts val="500"/>
              </a:spcBef>
              <a:spcAft>
                <a:spcPts val="0"/>
              </a:spcAft>
              <a:buClr>
                <a:srgbClr val="757575"/>
              </a:buClr>
              <a:buSzPts val="2000"/>
              <a:buNone/>
              <a:defRPr sz="2000">
                <a:solidFill>
                  <a:srgbClr val="757575"/>
                </a:solidFill>
              </a:defRPr>
            </a:lvl2pPr>
            <a:lvl3pPr marL="1371600" lvl="2" indent="-228600" algn="l">
              <a:lnSpc>
                <a:spcPct val="110000"/>
              </a:lnSpc>
              <a:spcBef>
                <a:spcPts val="500"/>
              </a:spcBef>
              <a:spcAft>
                <a:spcPts val="0"/>
              </a:spcAft>
              <a:buClr>
                <a:srgbClr val="757575"/>
              </a:buClr>
              <a:buSzPts val="1800"/>
              <a:buNone/>
              <a:defRPr sz="1800">
                <a:solidFill>
                  <a:srgbClr val="757575"/>
                </a:solidFill>
              </a:defRPr>
            </a:lvl3pPr>
            <a:lvl4pPr marL="1828800" lvl="3" indent="-228600" algn="l">
              <a:lnSpc>
                <a:spcPct val="110000"/>
              </a:lnSpc>
              <a:spcBef>
                <a:spcPts val="500"/>
              </a:spcBef>
              <a:spcAft>
                <a:spcPts val="0"/>
              </a:spcAft>
              <a:buClr>
                <a:srgbClr val="757575"/>
              </a:buClr>
              <a:buSzPts val="1600"/>
              <a:buNone/>
              <a:defRPr sz="1600">
                <a:solidFill>
                  <a:srgbClr val="757575"/>
                </a:solidFill>
              </a:defRPr>
            </a:lvl4pPr>
            <a:lvl5pPr marL="2286000" lvl="4" indent="-228600" algn="l">
              <a:lnSpc>
                <a:spcPct val="11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2" name="Google Shape;42;p36"/>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6"/>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5" name="Google Shape;45;p36"/>
          <p:cNvSpPr/>
          <p:nvPr/>
        </p:nvSpPr>
        <p:spPr>
          <a:xfrm>
            <a:off x="517870" y="508090"/>
            <a:ext cx="5021183"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37"/>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37"/>
          <p:cNvSpPr txBox="1">
            <a:spLocks noGrp="1"/>
          </p:cNvSpPr>
          <p:nvPr>
            <p:ph type="body" idx="1"/>
          </p:nvPr>
        </p:nvSpPr>
        <p:spPr>
          <a:xfrm>
            <a:off x="521208" y="2578608"/>
            <a:ext cx="5166360" cy="37673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7"/>
          <p:cNvSpPr txBox="1">
            <a:spLocks noGrp="1"/>
          </p:cNvSpPr>
          <p:nvPr>
            <p:ph type="body" idx="2"/>
          </p:nvPr>
        </p:nvSpPr>
        <p:spPr>
          <a:xfrm>
            <a:off x="6519672" y="2578608"/>
            <a:ext cx="5166360" cy="37673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7"/>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7"/>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38"/>
          <p:cNvSpPr txBox="1">
            <a:spLocks noGrp="1"/>
          </p:cNvSpPr>
          <p:nvPr>
            <p:ph type="title"/>
          </p:nvPr>
        </p:nvSpPr>
        <p:spPr>
          <a:xfrm>
            <a:off x="521208" y="978408"/>
            <a:ext cx="11164824" cy="121615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8"/>
          <p:cNvSpPr txBox="1">
            <a:spLocks noGrp="1"/>
          </p:cNvSpPr>
          <p:nvPr>
            <p:ph type="body" idx="1"/>
          </p:nvPr>
        </p:nvSpPr>
        <p:spPr>
          <a:xfrm>
            <a:off x="521208" y="2340864"/>
            <a:ext cx="5166360" cy="658368"/>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200"/>
              <a:buNone/>
              <a:defRPr sz="2200" b="0" i="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38"/>
          <p:cNvSpPr txBox="1">
            <a:spLocks noGrp="1"/>
          </p:cNvSpPr>
          <p:nvPr>
            <p:ph type="body" idx="2"/>
          </p:nvPr>
        </p:nvSpPr>
        <p:spPr>
          <a:xfrm>
            <a:off x="521208" y="3035808"/>
            <a:ext cx="5166360" cy="33101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8"/>
          <p:cNvSpPr txBox="1">
            <a:spLocks noGrp="1"/>
          </p:cNvSpPr>
          <p:nvPr>
            <p:ph type="body" idx="3"/>
          </p:nvPr>
        </p:nvSpPr>
        <p:spPr>
          <a:xfrm>
            <a:off x="6519672" y="2340864"/>
            <a:ext cx="5166360" cy="658368"/>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200"/>
              <a:buNone/>
              <a:defRPr sz="2200" b="0" i="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38"/>
          <p:cNvSpPr txBox="1">
            <a:spLocks noGrp="1"/>
          </p:cNvSpPr>
          <p:nvPr>
            <p:ph type="body" idx="4"/>
          </p:nvPr>
        </p:nvSpPr>
        <p:spPr>
          <a:xfrm>
            <a:off x="6519672" y="3035808"/>
            <a:ext cx="5166360" cy="331012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8"/>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8"/>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8"/>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39"/>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39"/>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9"/>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7"/>
        <p:cNvGrpSpPr/>
        <p:nvPr/>
      </p:nvGrpSpPr>
      <p:grpSpPr>
        <a:xfrm>
          <a:off x="0" y="0"/>
          <a:ext cx="0" cy="0"/>
          <a:chOff x="0" y="0"/>
          <a:chExt cx="0" cy="0"/>
        </a:xfrm>
      </p:grpSpPr>
      <p:sp>
        <p:nvSpPr>
          <p:cNvPr id="68" name="Google Shape;68;p40"/>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0"/>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0"/>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41"/>
          <p:cNvSpPr txBox="1">
            <a:spLocks noGrp="1"/>
          </p:cNvSpPr>
          <p:nvPr>
            <p:ph type="title"/>
          </p:nvPr>
        </p:nvSpPr>
        <p:spPr>
          <a:xfrm>
            <a:off x="521208" y="978408"/>
            <a:ext cx="5020056" cy="245973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41"/>
          <p:cNvSpPr txBox="1">
            <a:spLocks noGrp="1"/>
          </p:cNvSpPr>
          <p:nvPr>
            <p:ph type="body" idx="1"/>
          </p:nvPr>
        </p:nvSpPr>
        <p:spPr>
          <a:xfrm>
            <a:off x="6519672" y="987424"/>
            <a:ext cx="5166360" cy="5358384"/>
          </a:xfrm>
          <a:prstGeom prst="rect">
            <a:avLst/>
          </a:prstGeom>
          <a:noFill/>
          <a:ln>
            <a:noFill/>
          </a:ln>
        </p:spPr>
        <p:txBody>
          <a:bodyPr spcFirstLastPara="1" wrap="square" lIns="91425" tIns="45700" rIns="91425" bIns="45700" anchor="t" anchorCtr="0">
            <a:normAutofit/>
          </a:bodyPr>
          <a:lstStyle>
            <a:lvl1pPr marL="457200" lvl="0" indent="-355600" algn="l">
              <a:lnSpc>
                <a:spcPct val="110000"/>
              </a:lnSpc>
              <a:spcBef>
                <a:spcPts val="1000"/>
              </a:spcBef>
              <a:spcAft>
                <a:spcPts val="0"/>
              </a:spcAft>
              <a:buClr>
                <a:schemeClr val="dk1"/>
              </a:buClr>
              <a:buSzPts val="2000"/>
              <a:buChar char="•"/>
              <a:defRPr sz="2000"/>
            </a:lvl1pPr>
            <a:lvl2pPr marL="914400" lvl="1" indent="-342900" algn="l">
              <a:lnSpc>
                <a:spcPct val="110000"/>
              </a:lnSpc>
              <a:spcBef>
                <a:spcPts val="500"/>
              </a:spcBef>
              <a:spcAft>
                <a:spcPts val="0"/>
              </a:spcAft>
              <a:buClr>
                <a:schemeClr val="dk1"/>
              </a:buClr>
              <a:buSzPts val="1800"/>
              <a:buChar char="•"/>
              <a:defRPr sz="1800"/>
            </a:lvl2pPr>
            <a:lvl3pPr marL="1371600" lvl="2" indent="-330200" algn="l">
              <a:lnSpc>
                <a:spcPct val="110000"/>
              </a:lnSpc>
              <a:spcBef>
                <a:spcPts val="500"/>
              </a:spcBef>
              <a:spcAft>
                <a:spcPts val="0"/>
              </a:spcAft>
              <a:buClr>
                <a:schemeClr val="dk1"/>
              </a:buClr>
              <a:buSzPts val="1600"/>
              <a:buChar char="•"/>
              <a:defRPr sz="1600"/>
            </a:lvl3pPr>
            <a:lvl4pPr marL="1828800" lvl="3" indent="-317500" algn="l">
              <a:lnSpc>
                <a:spcPct val="110000"/>
              </a:lnSpc>
              <a:spcBef>
                <a:spcPts val="500"/>
              </a:spcBef>
              <a:spcAft>
                <a:spcPts val="0"/>
              </a:spcAft>
              <a:buClr>
                <a:schemeClr val="dk1"/>
              </a:buClr>
              <a:buSzPts val="1400"/>
              <a:buChar char="•"/>
              <a:defRPr sz="1400"/>
            </a:lvl4pPr>
            <a:lvl5pPr marL="2286000" lvl="4" indent="-317500" algn="l">
              <a:lnSpc>
                <a:spcPct val="110000"/>
              </a:lnSpc>
              <a:spcBef>
                <a:spcPts val="500"/>
              </a:spcBef>
              <a:spcAft>
                <a:spcPts val="0"/>
              </a:spcAft>
              <a:buClr>
                <a:schemeClr val="dk1"/>
              </a:buClr>
              <a:buSzPts val="1400"/>
              <a:buChar char="•"/>
              <a:defRPr sz="14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41"/>
          <p:cNvSpPr txBox="1">
            <a:spLocks noGrp="1"/>
          </p:cNvSpPr>
          <p:nvPr>
            <p:ph type="body" idx="2"/>
          </p:nvPr>
        </p:nvSpPr>
        <p:spPr>
          <a:xfrm>
            <a:off x="521208" y="3575304"/>
            <a:ext cx="5020056" cy="277063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2200"/>
              <a:buNone/>
              <a:defRPr sz="2200" i="1"/>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41"/>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1"/>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1"/>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42"/>
          <p:cNvSpPr txBox="1">
            <a:spLocks noGrp="1"/>
          </p:cNvSpPr>
          <p:nvPr>
            <p:ph type="title"/>
          </p:nvPr>
        </p:nvSpPr>
        <p:spPr>
          <a:xfrm>
            <a:off x="521208" y="978408"/>
            <a:ext cx="5020056" cy="2459736"/>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2"/>
          <p:cNvSpPr>
            <a:spLocks noGrp="1"/>
          </p:cNvSpPr>
          <p:nvPr>
            <p:ph type="pic" idx="2"/>
          </p:nvPr>
        </p:nvSpPr>
        <p:spPr>
          <a:xfrm>
            <a:off x="6519672" y="987424"/>
            <a:ext cx="5166360" cy="5358384"/>
          </a:xfrm>
          <a:prstGeom prst="rect">
            <a:avLst/>
          </a:prstGeom>
          <a:noFill/>
          <a:ln>
            <a:noFill/>
          </a:ln>
        </p:spPr>
      </p:sp>
      <p:sp>
        <p:nvSpPr>
          <p:cNvPr id="81" name="Google Shape;81;p42"/>
          <p:cNvSpPr txBox="1">
            <a:spLocks noGrp="1"/>
          </p:cNvSpPr>
          <p:nvPr>
            <p:ph type="body" idx="1"/>
          </p:nvPr>
        </p:nvSpPr>
        <p:spPr>
          <a:xfrm>
            <a:off x="521208" y="3575304"/>
            <a:ext cx="5020056" cy="277063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2200"/>
              <a:buNone/>
              <a:defRPr sz="2200" i="1"/>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42"/>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2"/>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2"/>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43"/>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43"/>
          <p:cNvSpPr txBox="1">
            <a:spLocks noGrp="1"/>
          </p:cNvSpPr>
          <p:nvPr>
            <p:ph type="body" idx="1"/>
          </p:nvPr>
        </p:nvSpPr>
        <p:spPr>
          <a:xfrm rot="5400000">
            <a:off x="4215384" y="-1115568"/>
            <a:ext cx="3767328" cy="1115568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43"/>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43"/>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43"/>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44"/>
          <p:cNvSpPr txBox="1">
            <a:spLocks noGrp="1"/>
          </p:cNvSpPr>
          <p:nvPr>
            <p:ph type="title"/>
          </p:nvPr>
        </p:nvSpPr>
        <p:spPr>
          <a:xfrm rot="5400000">
            <a:off x="7251192" y="2386584"/>
            <a:ext cx="5367528" cy="255117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44"/>
          <p:cNvSpPr txBox="1">
            <a:spLocks noGrp="1"/>
          </p:cNvSpPr>
          <p:nvPr>
            <p:ph type="body" idx="1"/>
          </p:nvPr>
        </p:nvSpPr>
        <p:spPr>
          <a:xfrm rot="5400000">
            <a:off x="1842516" y="-342900"/>
            <a:ext cx="5367528" cy="8010144"/>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44"/>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4"/>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44"/>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44"/>
          <p:cNvSpPr/>
          <p:nvPr/>
        </p:nvSpPr>
        <p:spPr>
          <a:xfrm rot="5400000">
            <a:off x="8936623" y="3585018"/>
            <a:ext cx="5325734"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chemeClr val="lt1"/>
              </a:buClr>
              <a:buSzPts val="4400"/>
              <a:buFont typeface="Arial"/>
              <a:buNone/>
              <a:defRPr sz="4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2"/>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10000"/>
              </a:lnSpc>
              <a:spcBef>
                <a:spcPts val="10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1pPr>
            <a:lvl2pPr marL="914400" marR="0" lvl="1" indent="-330200" algn="l" rtl="0">
              <a:lnSpc>
                <a:spcPct val="110000"/>
              </a:lnSpc>
              <a:spcBef>
                <a:spcPts val="5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2pPr>
            <a:lvl3pPr marL="1371600" marR="0" lvl="2" indent="-317500" algn="l" rtl="0">
              <a:lnSpc>
                <a:spcPct val="11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04800" algn="l" rtl="0">
              <a:lnSpc>
                <a:spcPct val="11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4pPr>
            <a:lvl5pPr marL="2286000" marR="0" lvl="4" indent="-304800" algn="l" rtl="0">
              <a:lnSpc>
                <a:spcPct val="11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8" name="Google Shape;8;p32"/>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9" name="Google Shape;9;p32"/>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0" name="Google Shape;10;p32"/>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0" marR="0" lvl="1" indent="0" algn="r" rtl="0">
              <a:spcBef>
                <a:spcPts val="0"/>
              </a:spcBef>
              <a:buNone/>
              <a:defRPr sz="900" b="0" i="0" u="none" strike="noStrike" cap="none">
                <a:solidFill>
                  <a:schemeClr val="lt1"/>
                </a:solidFill>
                <a:latin typeface="Arial"/>
                <a:ea typeface="Arial"/>
                <a:cs typeface="Arial"/>
                <a:sym typeface="Arial"/>
              </a:defRPr>
            </a:lvl2pPr>
            <a:lvl3pPr marL="0" marR="0" lvl="2" indent="0" algn="r" rtl="0">
              <a:spcBef>
                <a:spcPts val="0"/>
              </a:spcBef>
              <a:buNone/>
              <a:defRPr sz="900" b="0" i="0" u="none" strike="noStrike" cap="none">
                <a:solidFill>
                  <a:schemeClr val="lt1"/>
                </a:solidFill>
                <a:latin typeface="Arial"/>
                <a:ea typeface="Arial"/>
                <a:cs typeface="Arial"/>
                <a:sym typeface="Arial"/>
              </a:defRPr>
            </a:lvl3pPr>
            <a:lvl4pPr marL="0" marR="0" lvl="3" indent="0" algn="r" rtl="0">
              <a:spcBef>
                <a:spcPts val="0"/>
              </a:spcBef>
              <a:buNone/>
              <a:defRPr sz="900" b="0" i="0" u="none" strike="noStrike" cap="none">
                <a:solidFill>
                  <a:schemeClr val="lt1"/>
                </a:solidFill>
                <a:latin typeface="Arial"/>
                <a:ea typeface="Arial"/>
                <a:cs typeface="Arial"/>
                <a:sym typeface="Arial"/>
              </a:defRPr>
            </a:lvl4pPr>
            <a:lvl5pPr marL="0" marR="0" lvl="4" indent="0" algn="r" rtl="0">
              <a:spcBef>
                <a:spcPts val="0"/>
              </a:spcBef>
              <a:buNone/>
              <a:defRPr sz="900" b="0" i="0" u="none" strike="noStrike" cap="none">
                <a:solidFill>
                  <a:schemeClr val="lt1"/>
                </a:solidFill>
                <a:latin typeface="Arial"/>
                <a:ea typeface="Arial"/>
                <a:cs typeface="Arial"/>
                <a:sym typeface="Arial"/>
              </a:defRPr>
            </a:lvl5pPr>
            <a:lvl6pPr marL="0" marR="0" lvl="5" indent="0" algn="r" rtl="0">
              <a:spcBef>
                <a:spcPts val="0"/>
              </a:spcBef>
              <a:buNone/>
              <a:defRPr sz="900" b="0" i="0" u="none" strike="noStrike" cap="none">
                <a:solidFill>
                  <a:schemeClr val="lt1"/>
                </a:solidFill>
                <a:latin typeface="Arial"/>
                <a:ea typeface="Arial"/>
                <a:cs typeface="Arial"/>
                <a:sym typeface="Arial"/>
              </a:defRPr>
            </a:lvl6pPr>
            <a:lvl7pPr marL="0" marR="0" lvl="6" indent="0" algn="r" rtl="0">
              <a:spcBef>
                <a:spcPts val="0"/>
              </a:spcBef>
              <a:buNone/>
              <a:defRPr sz="900" b="0" i="0" u="none" strike="noStrike" cap="none">
                <a:solidFill>
                  <a:schemeClr val="lt1"/>
                </a:solidFill>
                <a:latin typeface="Arial"/>
                <a:ea typeface="Arial"/>
                <a:cs typeface="Arial"/>
                <a:sym typeface="Arial"/>
              </a:defRPr>
            </a:lvl7pPr>
            <a:lvl8pPr marL="0" marR="0" lvl="7" indent="0" algn="r" rtl="0">
              <a:spcBef>
                <a:spcPts val="0"/>
              </a:spcBef>
              <a:buNone/>
              <a:defRPr sz="900" b="0" i="0" u="none" strike="noStrike" cap="none">
                <a:solidFill>
                  <a:schemeClr val="lt1"/>
                </a:solidFill>
                <a:latin typeface="Arial"/>
                <a:ea typeface="Arial"/>
                <a:cs typeface="Arial"/>
                <a:sym typeface="Arial"/>
              </a:defRPr>
            </a:lvl8pPr>
            <a:lvl9pPr marL="0" marR="0" lvl="8" indent="0" algn="r" rtl="0">
              <a:spcBef>
                <a:spcPts val="0"/>
              </a:spcBef>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32"/>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sp>
        <p:nvSpPr>
          <p:cNvPr id="20" name="Google Shape;20;p31"/>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chemeClr val="dk1"/>
              </a:buClr>
              <a:buSzPts val="4400"/>
              <a:buFont typeface="Arial"/>
              <a:buNone/>
              <a:defRPr sz="44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 name="Google Shape;21;p31"/>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10000"/>
              </a:lnSpc>
              <a:spcBef>
                <a:spcPts val="10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30200" algn="l" rtl="0">
              <a:lnSpc>
                <a:spcPct val="11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1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lnSpc>
                <a:spcPct val="11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 name="Google Shape;22;p31"/>
          <p:cNvSpPr txBox="1">
            <a:spLocks noGrp="1"/>
          </p:cNvSpPr>
          <p:nvPr>
            <p:ph type="dt" idx="10"/>
          </p:nvPr>
        </p:nvSpPr>
        <p:spPr>
          <a:xfrm>
            <a:off x="521208" y="6419088"/>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31"/>
          <p:cNvSpPr txBox="1">
            <a:spLocks noGrp="1"/>
          </p:cNvSpPr>
          <p:nvPr>
            <p:ph type="ftr" idx="11"/>
          </p:nvPr>
        </p:nvSpPr>
        <p:spPr>
          <a:xfrm>
            <a:off x="521208" y="100584"/>
            <a:ext cx="411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31"/>
          <p:cNvSpPr txBox="1">
            <a:spLocks noGrp="1"/>
          </p:cNvSpPr>
          <p:nvPr>
            <p:ph type="sldNum" idx="12"/>
          </p:nvPr>
        </p:nvSpPr>
        <p:spPr>
          <a:xfrm>
            <a:off x="11457432" y="6419088"/>
            <a:ext cx="64008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0" marR="0" lvl="1" indent="0" algn="r" rtl="0">
              <a:spcBef>
                <a:spcPts val="0"/>
              </a:spcBef>
              <a:buNone/>
              <a:defRPr sz="900" b="0" i="0" u="none" strike="noStrike" cap="none">
                <a:solidFill>
                  <a:schemeClr val="dk1"/>
                </a:solidFill>
                <a:latin typeface="Arial"/>
                <a:ea typeface="Arial"/>
                <a:cs typeface="Arial"/>
                <a:sym typeface="Arial"/>
              </a:defRPr>
            </a:lvl2pPr>
            <a:lvl3pPr marL="0" marR="0" lvl="2" indent="0" algn="r" rtl="0">
              <a:spcBef>
                <a:spcPts val="0"/>
              </a:spcBef>
              <a:buNone/>
              <a:defRPr sz="900" b="0" i="0" u="none" strike="noStrike" cap="none">
                <a:solidFill>
                  <a:schemeClr val="dk1"/>
                </a:solidFill>
                <a:latin typeface="Arial"/>
                <a:ea typeface="Arial"/>
                <a:cs typeface="Arial"/>
                <a:sym typeface="Arial"/>
              </a:defRPr>
            </a:lvl3pPr>
            <a:lvl4pPr marL="0" marR="0" lvl="3" indent="0" algn="r" rtl="0">
              <a:spcBef>
                <a:spcPts val="0"/>
              </a:spcBef>
              <a:buNone/>
              <a:defRPr sz="900" b="0" i="0" u="none" strike="noStrike" cap="none">
                <a:solidFill>
                  <a:schemeClr val="dk1"/>
                </a:solidFill>
                <a:latin typeface="Arial"/>
                <a:ea typeface="Arial"/>
                <a:cs typeface="Arial"/>
                <a:sym typeface="Arial"/>
              </a:defRPr>
            </a:lvl4pPr>
            <a:lvl5pPr marL="0" marR="0" lvl="4" indent="0" algn="r" rtl="0">
              <a:spcBef>
                <a:spcPts val="0"/>
              </a:spcBef>
              <a:buNone/>
              <a:defRPr sz="900" b="0" i="0" u="none" strike="noStrike" cap="none">
                <a:solidFill>
                  <a:schemeClr val="dk1"/>
                </a:solidFill>
                <a:latin typeface="Arial"/>
                <a:ea typeface="Arial"/>
                <a:cs typeface="Arial"/>
                <a:sym typeface="Arial"/>
              </a:defRPr>
            </a:lvl5pPr>
            <a:lvl6pPr marL="0" marR="0" lvl="5" indent="0" algn="r" rtl="0">
              <a:spcBef>
                <a:spcPts val="0"/>
              </a:spcBef>
              <a:buNone/>
              <a:defRPr sz="900" b="0" i="0" u="none" strike="noStrike" cap="none">
                <a:solidFill>
                  <a:schemeClr val="dk1"/>
                </a:solidFill>
                <a:latin typeface="Arial"/>
                <a:ea typeface="Arial"/>
                <a:cs typeface="Arial"/>
                <a:sym typeface="Arial"/>
              </a:defRPr>
            </a:lvl6pPr>
            <a:lvl7pPr marL="0" marR="0" lvl="6" indent="0" algn="r" rtl="0">
              <a:spcBef>
                <a:spcPts val="0"/>
              </a:spcBef>
              <a:buNone/>
              <a:defRPr sz="900" b="0" i="0" u="none" strike="noStrike" cap="none">
                <a:solidFill>
                  <a:schemeClr val="dk1"/>
                </a:solidFill>
                <a:latin typeface="Arial"/>
                <a:ea typeface="Arial"/>
                <a:cs typeface="Arial"/>
                <a:sym typeface="Arial"/>
              </a:defRPr>
            </a:lvl7pPr>
            <a:lvl8pPr marL="0" marR="0" lvl="7" indent="0" algn="r" rtl="0">
              <a:spcBef>
                <a:spcPts val="0"/>
              </a:spcBef>
              <a:buNone/>
              <a:defRPr sz="900" b="0" i="0" u="none" strike="noStrike" cap="none">
                <a:solidFill>
                  <a:schemeClr val="dk1"/>
                </a:solidFill>
                <a:latin typeface="Arial"/>
                <a:ea typeface="Arial"/>
                <a:cs typeface="Arial"/>
                <a:sym typeface="Arial"/>
              </a:defRPr>
            </a:lvl8pPr>
            <a:lvl9pPr marL="0" marR="0" lvl="8" indent="0" algn="r" rtl="0">
              <a:spcBef>
                <a:spcPts val="0"/>
              </a:spcBef>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5" name="Google Shape;25;p31"/>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1"/>
        <p:cNvGrpSpPr/>
        <p:nvPr/>
      </p:nvGrpSpPr>
      <p:grpSpPr>
        <a:xfrm>
          <a:off x="0" y="0"/>
          <a:ext cx="0" cy="0"/>
          <a:chOff x="0" y="0"/>
          <a:chExt cx="0" cy="0"/>
        </a:xfrm>
      </p:grpSpPr>
      <p:sp>
        <p:nvSpPr>
          <p:cNvPr id="102" name="Google Shape;102;p1"/>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103" name="Google Shape;103;p1" descr="Digital numbers and graphs"/>
          <p:cNvPicPr preferRelativeResize="0"/>
          <p:nvPr/>
        </p:nvPicPr>
        <p:blipFill rotWithShape="1">
          <a:blip r:embed="rId3">
            <a:alphaModFix/>
          </a:blip>
          <a:srcRect t="15730"/>
          <a:stretch/>
        </p:blipFill>
        <p:spPr>
          <a:xfrm>
            <a:off x="20" y="10"/>
            <a:ext cx="12191979" cy="6857990"/>
          </a:xfrm>
          <a:prstGeom prst="rect">
            <a:avLst/>
          </a:prstGeom>
          <a:noFill/>
          <a:ln>
            <a:noFill/>
          </a:ln>
        </p:spPr>
      </p:pic>
      <p:sp>
        <p:nvSpPr>
          <p:cNvPr id="104" name="Google Shape;104;p1"/>
          <p:cNvSpPr/>
          <p:nvPr/>
        </p:nvSpPr>
        <p:spPr>
          <a:xfrm rot="5400000">
            <a:off x="-173183" y="173181"/>
            <a:ext cx="6858002" cy="6511640"/>
          </a:xfrm>
          <a:prstGeom prst="rect">
            <a:avLst/>
          </a:prstGeom>
          <a:gradFill>
            <a:gsLst>
              <a:gs pos="0">
                <a:srgbClr val="000000">
                  <a:alpha val="0"/>
                </a:srgbClr>
              </a:gs>
              <a:gs pos="26000">
                <a:srgbClr val="000000">
                  <a:alpha val="7058"/>
                </a:srgbClr>
              </a:gs>
              <a:gs pos="46000">
                <a:srgbClr val="000000">
                  <a:alpha val="20000"/>
                </a:srgbClr>
              </a:gs>
              <a:gs pos="100000">
                <a:srgbClr val="000000">
                  <a:alpha val="34901"/>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5" name="Google Shape;105;p1"/>
          <p:cNvSpPr txBox="1">
            <a:spLocks noGrp="1"/>
          </p:cNvSpPr>
          <p:nvPr>
            <p:ph type="ctrTitle"/>
          </p:nvPr>
        </p:nvSpPr>
        <p:spPr>
          <a:xfrm>
            <a:off x="438910" y="978408"/>
            <a:ext cx="4795819" cy="396996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4600"/>
              <a:buFont typeface="Arial"/>
              <a:buNone/>
            </a:pPr>
            <a:r>
              <a:rPr lang="en-US" sz="4600" b="1"/>
              <a:t>The Impact of Monetary Policy on Calgary's Rental Market (2026)</a:t>
            </a:r>
            <a:endParaRPr sz="4600"/>
          </a:p>
        </p:txBody>
      </p:sp>
      <p:sp>
        <p:nvSpPr>
          <p:cNvPr id="106" name="Google Shape;106;p1"/>
          <p:cNvSpPr txBox="1">
            <a:spLocks noGrp="1"/>
          </p:cNvSpPr>
          <p:nvPr>
            <p:ph type="subTitle" idx="1"/>
          </p:nvPr>
        </p:nvSpPr>
        <p:spPr>
          <a:xfrm>
            <a:off x="438910" y="4948369"/>
            <a:ext cx="4381634" cy="1157436"/>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1300"/>
              <a:buNone/>
            </a:pPr>
            <a:r>
              <a:rPr lang="en-US" sz="1300"/>
              <a:t>Group 4: Bhuvan Dubey, Gurmol Sohi, Bilal Naseem</a:t>
            </a:r>
            <a:br>
              <a:rPr lang="en-US" sz="1300"/>
            </a:br>
            <a:r>
              <a:rPr lang="en-US" sz="1300"/>
              <a:t>DATA 613, Winter 2026</a:t>
            </a:r>
            <a:endParaRPr/>
          </a:p>
          <a:p>
            <a:pPr marL="0" lvl="0" indent="0" algn="l" rtl="0">
              <a:lnSpc>
                <a:spcPct val="100000"/>
              </a:lnSpc>
              <a:spcBef>
                <a:spcPts val="1000"/>
              </a:spcBef>
              <a:spcAft>
                <a:spcPts val="0"/>
              </a:spcAft>
              <a:buClr>
                <a:schemeClr val="lt1"/>
              </a:buClr>
              <a:buSzPts val="1300"/>
              <a:buNone/>
            </a:pPr>
            <a:br>
              <a:rPr lang="en-US" sz="1300"/>
            </a:br>
            <a:endParaRPr sz="1300"/>
          </a:p>
        </p:txBody>
      </p:sp>
      <p:sp>
        <p:nvSpPr>
          <p:cNvPr id="107" name="Google Shape;107;p1"/>
          <p:cNvSpPr/>
          <p:nvPr/>
        </p:nvSpPr>
        <p:spPr>
          <a:xfrm>
            <a:off x="517868" y="508090"/>
            <a:ext cx="4695702" cy="14927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2"/>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3" name="Google Shape;113;p2"/>
          <p:cNvSpPr txBox="1">
            <a:spLocks noGrp="1"/>
          </p:cNvSpPr>
          <p:nvPr>
            <p:ph type="title"/>
          </p:nvPr>
        </p:nvSpPr>
        <p:spPr>
          <a:xfrm>
            <a:off x="521208" y="978408"/>
            <a:ext cx="6281928"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Introduction</a:t>
            </a:r>
            <a:endParaRPr/>
          </a:p>
        </p:txBody>
      </p:sp>
      <p:sp>
        <p:nvSpPr>
          <p:cNvPr id="114" name="Google Shape;114;p2"/>
          <p:cNvSpPr/>
          <p:nvPr/>
        </p:nvSpPr>
        <p:spPr>
          <a:xfrm>
            <a:off x="517870" y="508090"/>
            <a:ext cx="6281928"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5" name="Google Shape;115;p2"/>
          <p:cNvSpPr txBox="1">
            <a:spLocks noGrp="1"/>
          </p:cNvSpPr>
          <p:nvPr>
            <p:ph type="body" idx="1"/>
          </p:nvPr>
        </p:nvSpPr>
        <p:spPr>
          <a:xfrm>
            <a:off x="521208" y="2578608"/>
            <a:ext cx="6281928"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Housing affordability is a growing concern across Canada, especially in Alberta (Statistics Canada, 2024)</a:t>
            </a:r>
            <a:endParaRPr/>
          </a:p>
          <a:p>
            <a:pPr marL="228600" lvl="0" indent="-228600" algn="l" rtl="0">
              <a:lnSpc>
                <a:spcPct val="110000"/>
              </a:lnSpc>
              <a:spcBef>
                <a:spcPts val="1000"/>
              </a:spcBef>
              <a:spcAft>
                <a:spcPts val="0"/>
              </a:spcAft>
              <a:buClr>
                <a:schemeClr val="dk1"/>
              </a:buClr>
              <a:buSzPts val="1800"/>
              <a:buChar char="•"/>
            </a:pPr>
            <a:r>
              <a:rPr lang="en-US"/>
              <a:t>Calgary’s housing market has experienced rapid changes due to population growth and economic shifts (Government of Alberta, 2024)</a:t>
            </a:r>
            <a:endParaRPr/>
          </a:p>
          <a:p>
            <a:pPr marL="228600" lvl="0" indent="-228600" algn="l" rtl="0">
              <a:lnSpc>
                <a:spcPct val="110000"/>
              </a:lnSpc>
              <a:spcBef>
                <a:spcPts val="1000"/>
              </a:spcBef>
              <a:spcAft>
                <a:spcPts val="0"/>
              </a:spcAft>
              <a:buClr>
                <a:schemeClr val="dk1"/>
              </a:buClr>
              <a:buSzPts val="1800"/>
              <a:buChar char="•"/>
            </a:pPr>
            <a:r>
              <a:rPr lang="en-US"/>
              <a:t>Increasing costs impact both homebuyers and renters, creating a need for policy analysis</a:t>
            </a:r>
            <a:endParaRPr/>
          </a:p>
        </p:txBody>
      </p:sp>
      <p:pic>
        <p:nvPicPr>
          <p:cNvPr id="116" name="Google Shape;116;p2" descr="Suburban scene"/>
          <p:cNvPicPr preferRelativeResize="0"/>
          <p:nvPr/>
        </p:nvPicPr>
        <p:blipFill rotWithShape="1">
          <a:blip r:embed="rId3">
            <a:alphaModFix/>
          </a:blip>
          <a:srcRect/>
          <a:stretch/>
        </p:blipFill>
        <p:spPr>
          <a:xfrm>
            <a:off x="7317668" y="1994644"/>
            <a:ext cx="4356461" cy="435646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3"/>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Motivation</a:t>
            </a:r>
            <a:endParaRPr/>
          </a:p>
        </p:txBody>
      </p:sp>
      <p:grpSp>
        <p:nvGrpSpPr>
          <p:cNvPr id="122" name="Google Shape;122;p3"/>
          <p:cNvGrpSpPr/>
          <p:nvPr/>
        </p:nvGrpSpPr>
        <p:grpSpPr>
          <a:xfrm>
            <a:off x="521208" y="2580171"/>
            <a:ext cx="11155680" cy="3764201"/>
            <a:chOff x="0" y="1563"/>
            <a:chExt cx="11155680" cy="3764201"/>
          </a:xfrm>
        </p:grpSpPr>
        <p:sp>
          <p:nvSpPr>
            <p:cNvPr id="123" name="Google Shape;123;p3"/>
            <p:cNvSpPr/>
            <p:nvPr/>
          </p:nvSpPr>
          <p:spPr>
            <a:xfrm>
              <a:off x="0" y="1563"/>
              <a:ext cx="11155680" cy="792463"/>
            </a:xfrm>
            <a:prstGeom prst="roundRect">
              <a:avLst>
                <a:gd name="adj" fmla="val 10000"/>
              </a:avLst>
            </a:prstGeom>
            <a:solidFill>
              <a:srgbClr val="F5D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239720" y="179867"/>
              <a:ext cx="435854" cy="435854"/>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915295" y="1563"/>
              <a:ext cx="10240384" cy="792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txBox="1"/>
            <p:nvPr/>
          </p:nvSpPr>
          <p:spPr>
            <a:xfrm>
              <a:off x="915295" y="1563"/>
              <a:ext cx="10240384" cy="792463"/>
            </a:xfrm>
            <a:prstGeom prst="rect">
              <a:avLst/>
            </a:prstGeom>
            <a:noFill/>
            <a:ln>
              <a:noFill/>
            </a:ln>
          </p:spPr>
          <p:txBody>
            <a:bodyPr spcFirstLastPara="1" wrap="square" lIns="83850" tIns="83850" rIns="83850" bIns="83850" anchor="ctr"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Since 2022, the Bank of Canada has raised interest rates sharply, increasing borrowing costs (Bank of Canada, 2024)</a:t>
              </a:r>
              <a:endParaRPr/>
            </a:p>
          </p:txBody>
        </p:sp>
        <p:sp>
          <p:nvSpPr>
            <p:cNvPr id="127" name="Google Shape;127;p3"/>
            <p:cNvSpPr/>
            <p:nvPr/>
          </p:nvSpPr>
          <p:spPr>
            <a:xfrm>
              <a:off x="0" y="992142"/>
              <a:ext cx="11155680" cy="792463"/>
            </a:xfrm>
            <a:prstGeom prst="roundRect">
              <a:avLst>
                <a:gd name="adj" fmla="val 10000"/>
              </a:avLst>
            </a:prstGeom>
            <a:solidFill>
              <a:srgbClr val="F5D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239720" y="1170447"/>
              <a:ext cx="435854" cy="435854"/>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915295" y="992142"/>
              <a:ext cx="10240384" cy="792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txBox="1"/>
            <p:nvPr/>
          </p:nvSpPr>
          <p:spPr>
            <a:xfrm>
              <a:off x="915295" y="992142"/>
              <a:ext cx="10240384" cy="792463"/>
            </a:xfrm>
            <a:prstGeom prst="rect">
              <a:avLst/>
            </a:prstGeom>
            <a:noFill/>
            <a:ln>
              <a:noFill/>
            </a:ln>
          </p:spPr>
          <p:txBody>
            <a:bodyPr spcFirstLastPara="1" wrap="square" lIns="83850" tIns="83850" rIns="83850" bIns="83850" anchor="ctr"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Higher rates have shifted demand toward rental housing, affecting vacancy rates and rental prices (Canada Mortgage and Housing Corporation, 2024)</a:t>
              </a:r>
              <a:endParaRPr/>
            </a:p>
          </p:txBody>
        </p:sp>
        <p:sp>
          <p:nvSpPr>
            <p:cNvPr id="131" name="Google Shape;131;p3"/>
            <p:cNvSpPr/>
            <p:nvPr/>
          </p:nvSpPr>
          <p:spPr>
            <a:xfrm>
              <a:off x="0" y="1982721"/>
              <a:ext cx="11155680" cy="792463"/>
            </a:xfrm>
            <a:prstGeom prst="roundRect">
              <a:avLst>
                <a:gd name="adj" fmla="val 10000"/>
              </a:avLst>
            </a:prstGeom>
            <a:solidFill>
              <a:srgbClr val="F5D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239720" y="2161026"/>
              <a:ext cx="435854" cy="435854"/>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915295" y="1982721"/>
              <a:ext cx="10240384" cy="792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txBox="1"/>
            <p:nvPr/>
          </p:nvSpPr>
          <p:spPr>
            <a:xfrm>
              <a:off x="915295" y="1982721"/>
              <a:ext cx="10240384" cy="792463"/>
            </a:xfrm>
            <a:prstGeom prst="rect">
              <a:avLst/>
            </a:prstGeom>
            <a:noFill/>
            <a:ln>
              <a:noFill/>
            </a:ln>
          </p:spPr>
          <p:txBody>
            <a:bodyPr spcFirstLastPara="1" wrap="square" lIns="83850" tIns="83850" rIns="83850" bIns="83850" anchor="ctr"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Understanding how macroeconomic policy influences rental supply, prices, and landlord incentives is key for housing policy in Calgary (Statistics Canada, 2024)</a:t>
              </a:r>
              <a:endParaRPr/>
            </a:p>
          </p:txBody>
        </p:sp>
        <p:sp>
          <p:nvSpPr>
            <p:cNvPr id="135" name="Google Shape;135;p3"/>
            <p:cNvSpPr/>
            <p:nvPr/>
          </p:nvSpPr>
          <p:spPr>
            <a:xfrm>
              <a:off x="0" y="2973301"/>
              <a:ext cx="11155680" cy="792463"/>
            </a:xfrm>
            <a:prstGeom prst="roundRect">
              <a:avLst>
                <a:gd name="adj" fmla="val 10000"/>
              </a:avLst>
            </a:prstGeom>
            <a:solidFill>
              <a:srgbClr val="F5DF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239720" y="3151605"/>
              <a:ext cx="435854" cy="435854"/>
            </a:xfrm>
            <a:prstGeom prst="rect">
              <a:avLst/>
            </a:prstGeom>
            <a:blipFill rotWithShape="1">
              <a:blip r:embed="rId6">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915295" y="2973301"/>
              <a:ext cx="10240384" cy="792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txBox="1"/>
            <p:nvPr/>
          </p:nvSpPr>
          <p:spPr>
            <a:xfrm>
              <a:off x="915295" y="2973301"/>
              <a:ext cx="10240384" cy="792463"/>
            </a:xfrm>
            <a:prstGeom prst="rect">
              <a:avLst/>
            </a:prstGeom>
            <a:noFill/>
            <a:ln>
              <a:noFill/>
            </a:ln>
          </p:spPr>
          <p:txBody>
            <a:bodyPr spcFirstLastPara="1" wrap="square" lIns="83850" tIns="83850" rIns="83850" bIns="83850" anchor="ctr" anchorCtr="0">
              <a:no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Our goal: Examine the link between Bank of Canada's interest rate and rental market outcomes in Calgary by 2026</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
        <p:cNvGrpSpPr/>
        <p:nvPr/>
      </p:nvGrpSpPr>
      <p:grpSpPr>
        <a:xfrm>
          <a:off x="0" y="0"/>
          <a:ext cx="0" cy="0"/>
          <a:chOff x="0" y="0"/>
          <a:chExt cx="0" cy="0"/>
        </a:xfrm>
      </p:grpSpPr>
      <p:sp>
        <p:nvSpPr>
          <p:cNvPr id="143" name="Google Shape;143;p4"/>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4" name="Google Shape;144;p4"/>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Key Research Questions</a:t>
            </a:r>
            <a:endParaRPr/>
          </a:p>
        </p:txBody>
      </p:sp>
      <p:sp>
        <p:nvSpPr>
          <p:cNvPr id="145" name="Google Shape;145;p4"/>
          <p:cNvSpPr/>
          <p:nvPr/>
        </p:nvSpPr>
        <p:spPr>
          <a:xfrm>
            <a:off x="517869" y="508090"/>
            <a:ext cx="11155680"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46" name="Google Shape;146;p4"/>
          <p:cNvGrpSpPr/>
          <p:nvPr/>
        </p:nvGrpSpPr>
        <p:grpSpPr>
          <a:xfrm>
            <a:off x="520700" y="2578559"/>
            <a:ext cx="11156950" cy="3766218"/>
            <a:chOff x="0" y="459"/>
            <a:chExt cx="11156950" cy="3766218"/>
          </a:xfrm>
        </p:grpSpPr>
        <p:sp>
          <p:nvSpPr>
            <p:cNvPr id="147" name="Google Shape;147;p4"/>
            <p:cNvSpPr/>
            <p:nvPr/>
          </p:nvSpPr>
          <p:spPr>
            <a:xfrm>
              <a:off x="0" y="459"/>
              <a:ext cx="11156950" cy="1076062"/>
            </a:xfrm>
            <a:prstGeom prst="roundRect">
              <a:avLst>
                <a:gd name="adj" fmla="val 1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4"/>
            <p:cNvSpPr/>
            <p:nvPr/>
          </p:nvSpPr>
          <p:spPr>
            <a:xfrm>
              <a:off x="325508" y="242573"/>
              <a:ext cx="591834" cy="59183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4"/>
            <p:cNvSpPr/>
            <p:nvPr/>
          </p:nvSpPr>
          <p:spPr>
            <a:xfrm>
              <a:off x="1242852" y="459"/>
              <a:ext cx="5020627" cy="107606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txBox="1"/>
            <p:nvPr/>
          </p:nvSpPr>
          <p:spPr>
            <a:xfrm>
              <a:off x="1242852" y="459"/>
              <a:ext cx="5020627" cy="1076062"/>
            </a:xfrm>
            <a:prstGeom prst="rect">
              <a:avLst/>
            </a:prstGeom>
            <a:noFill/>
            <a:ln>
              <a:noFill/>
            </a:ln>
          </p:spPr>
          <p:txBody>
            <a:bodyPr spcFirstLastPara="1" wrap="square" lIns="113875" tIns="113875" rIns="113875" bIns="113875" anchor="ctr" anchorCtr="0">
              <a:noAutofit/>
            </a:bodyPr>
            <a:lstStyle/>
            <a:p>
              <a:pPr marL="0" marR="0" lvl="0" indent="0" algn="l" rtl="0">
                <a:lnSpc>
                  <a:spcPct val="9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How does the Bank of Canada (BoC) policy rate predict rental inventory in Calgary?</a:t>
              </a:r>
              <a:r>
                <a:rPr lang="en-US" sz="2000" b="0" i="0" u="none" strike="noStrike" cap="none">
                  <a:solidFill>
                    <a:schemeClr val="dk1"/>
                  </a:solidFill>
                  <a:latin typeface="Arial"/>
                  <a:ea typeface="Arial"/>
                  <a:cs typeface="Arial"/>
                  <a:sym typeface="Arial"/>
                </a:rPr>
                <a:t> </a:t>
              </a:r>
              <a:endParaRPr/>
            </a:p>
          </p:txBody>
        </p:sp>
        <p:sp>
          <p:nvSpPr>
            <p:cNvPr id="151" name="Google Shape;151;p4"/>
            <p:cNvSpPr/>
            <p:nvPr/>
          </p:nvSpPr>
          <p:spPr>
            <a:xfrm>
              <a:off x="6263479" y="459"/>
              <a:ext cx="4893470" cy="107606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txBox="1"/>
            <p:nvPr/>
          </p:nvSpPr>
          <p:spPr>
            <a:xfrm>
              <a:off x="6263479" y="459"/>
              <a:ext cx="4893470" cy="1076062"/>
            </a:xfrm>
            <a:prstGeom prst="rect">
              <a:avLst/>
            </a:prstGeom>
            <a:noFill/>
            <a:ln>
              <a:noFill/>
            </a:ln>
          </p:spPr>
          <p:txBody>
            <a:bodyPr spcFirstLastPara="1" wrap="square" lIns="113875" tIns="113875" rIns="113875" bIns="113875" anchor="ctr" anchorCtr="0">
              <a:noAutofit/>
            </a:bodyPr>
            <a:lstStyle/>
            <a:p>
              <a:pPr marL="0" marR="0" lvl="0" indent="0" algn="l" rtl="0">
                <a:lnSpc>
                  <a:spcPct val="90000"/>
                </a:lnSpc>
                <a:spcBef>
                  <a:spcPts val="0"/>
                </a:spcBef>
                <a:spcAft>
                  <a:spcPts val="0"/>
                </a:spcAft>
                <a:buClr>
                  <a:schemeClr val="dk1"/>
                </a:buClr>
                <a:buSzPts val="1300"/>
                <a:buFont typeface="Arial"/>
                <a:buNone/>
              </a:pPr>
              <a:r>
                <a:rPr lang="en-US" sz="1300" b="1" i="0" u="none" strike="noStrike" cap="none">
                  <a:solidFill>
                    <a:schemeClr val="dk1"/>
                  </a:solidFill>
                  <a:latin typeface="Arial"/>
                  <a:ea typeface="Arial"/>
                  <a:cs typeface="Arial"/>
                  <a:sym typeface="Arial"/>
                </a:rPr>
                <a:t>Secondary Question 1.1:</a:t>
              </a:r>
              <a:r>
                <a:rPr lang="en-US" sz="1300" b="0" i="0" u="none" strike="noStrike" cap="none">
                  <a:solidFill>
                    <a:schemeClr val="dk1"/>
                  </a:solidFill>
                  <a:latin typeface="Arial"/>
                  <a:ea typeface="Arial"/>
                  <a:cs typeface="Arial"/>
                  <a:sym typeface="Arial"/>
                </a:rPr>
                <a:t> Does the sensitivity to interest rates differ between "Full Homes" and "Apartments"?</a:t>
              </a:r>
              <a:endParaRPr/>
            </a:p>
            <a:p>
              <a:pPr marL="0" marR="0" lvl="0" indent="0" algn="l" rtl="0">
                <a:lnSpc>
                  <a:spcPct val="90000"/>
                </a:lnSpc>
                <a:spcBef>
                  <a:spcPts val="455"/>
                </a:spcBef>
                <a:spcAft>
                  <a:spcPts val="0"/>
                </a:spcAft>
                <a:buClr>
                  <a:schemeClr val="dk1"/>
                </a:buClr>
                <a:buSzPts val="1300"/>
                <a:buFont typeface="Arial"/>
                <a:buNone/>
              </a:pPr>
              <a:r>
                <a:rPr lang="en-US" sz="1300" b="1" i="0" u="none" strike="noStrike" cap="none">
                  <a:solidFill>
                    <a:schemeClr val="dk1"/>
                  </a:solidFill>
                  <a:latin typeface="Arial"/>
                  <a:ea typeface="Arial"/>
                  <a:cs typeface="Arial"/>
                  <a:sym typeface="Arial"/>
                </a:rPr>
                <a:t>Secondary Question 1.2:</a:t>
              </a:r>
              <a:r>
                <a:rPr lang="en-US" sz="1300" b="0" i="0" u="none" strike="noStrike" cap="none">
                  <a:solidFill>
                    <a:schemeClr val="dk1"/>
                  </a:solidFill>
                  <a:latin typeface="Arial"/>
                  <a:ea typeface="Arial"/>
                  <a:cs typeface="Arial"/>
                  <a:sym typeface="Arial"/>
                </a:rPr>
                <a:t> Is there a statistically significant lag (e.g., 3 months) between rate change and rental price response?</a:t>
              </a:r>
              <a:endParaRPr/>
            </a:p>
          </p:txBody>
        </p:sp>
        <p:sp>
          <p:nvSpPr>
            <p:cNvPr id="153" name="Google Shape;153;p4"/>
            <p:cNvSpPr/>
            <p:nvPr/>
          </p:nvSpPr>
          <p:spPr>
            <a:xfrm>
              <a:off x="0" y="1345537"/>
              <a:ext cx="11156950" cy="1076062"/>
            </a:xfrm>
            <a:prstGeom prst="roundRect">
              <a:avLst>
                <a:gd name="adj" fmla="val 10000"/>
              </a:avLst>
            </a:prstGeom>
            <a:solidFill>
              <a:srgbClr val="E645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4"/>
            <p:cNvSpPr/>
            <p:nvPr/>
          </p:nvSpPr>
          <p:spPr>
            <a:xfrm>
              <a:off x="325508" y="1587651"/>
              <a:ext cx="591834" cy="59183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1242852" y="1345537"/>
              <a:ext cx="5020627" cy="107606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txBox="1"/>
            <p:nvPr/>
          </p:nvSpPr>
          <p:spPr>
            <a:xfrm>
              <a:off x="1242852" y="1345537"/>
              <a:ext cx="5020627" cy="1076062"/>
            </a:xfrm>
            <a:prstGeom prst="rect">
              <a:avLst/>
            </a:prstGeom>
            <a:noFill/>
            <a:ln>
              <a:noFill/>
            </a:ln>
          </p:spPr>
          <p:txBody>
            <a:bodyPr spcFirstLastPara="1" wrap="square" lIns="113875" tIns="113875" rIns="113875" bIns="113875" anchor="ctr" anchorCtr="0">
              <a:noAutofit/>
            </a:bodyPr>
            <a:lstStyle/>
            <a:p>
              <a:pPr marL="0" marR="0" lvl="0" indent="0" algn="l" rtl="0">
                <a:lnSpc>
                  <a:spcPct val="9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What is the impact of property features (bedrooms, size) on rental prices?</a:t>
              </a:r>
              <a:r>
                <a:rPr lang="en-US" sz="2000" b="0" i="0" u="none" strike="noStrike" cap="none">
                  <a:solidFill>
                    <a:schemeClr val="dk1"/>
                  </a:solidFill>
                  <a:latin typeface="Arial"/>
                  <a:ea typeface="Arial"/>
                  <a:cs typeface="Arial"/>
                  <a:sym typeface="Arial"/>
                </a:rPr>
                <a:t> </a:t>
              </a:r>
              <a:endParaRPr/>
            </a:p>
          </p:txBody>
        </p:sp>
        <p:sp>
          <p:nvSpPr>
            <p:cNvPr id="157" name="Google Shape;157;p4"/>
            <p:cNvSpPr/>
            <p:nvPr/>
          </p:nvSpPr>
          <p:spPr>
            <a:xfrm>
              <a:off x="6263479" y="1345537"/>
              <a:ext cx="4893470" cy="107606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txBox="1"/>
            <p:nvPr/>
          </p:nvSpPr>
          <p:spPr>
            <a:xfrm>
              <a:off x="6263479" y="1345537"/>
              <a:ext cx="4893470" cy="1076062"/>
            </a:xfrm>
            <a:prstGeom prst="rect">
              <a:avLst/>
            </a:prstGeom>
            <a:noFill/>
            <a:ln>
              <a:noFill/>
            </a:ln>
          </p:spPr>
          <p:txBody>
            <a:bodyPr spcFirstLastPara="1" wrap="square" lIns="113875" tIns="113875" rIns="113875" bIns="113875" anchor="ctr" anchorCtr="0">
              <a:noAutofit/>
            </a:bodyPr>
            <a:lstStyle/>
            <a:p>
              <a:pPr marL="0" marR="0" lvl="0" indent="0" algn="l" rtl="0">
                <a:lnSpc>
                  <a:spcPct val="90000"/>
                </a:lnSpc>
                <a:spcBef>
                  <a:spcPts val="0"/>
                </a:spcBef>
                <a:spcAft>
                  <a:spcPts val="0"/>
                </a:spcAft>
                <a:buClr>
                  <a:schemeClr val="dk1"/>
                </a:buClr>
                <a:buSzPts val="1300"/>
                <a:buFont typeface="Arial"/>
                <a:buNone/>
              </a:pPr>
              <a:r>
                <a:rPr lang="en-US" sz="1300" b="1" i="0" u="none" strike="noStrike" cap="none" dirty="0">
                  <a:solidFill>
                    <a:schemeClr val="dk1"/>
                  </a:solidFill>
                  <a:latin typeface="Arial"/>
                  <a:ea typeface="Arial"/>
                  <a:cs typeface="Arial"/>
                  <a:sym typeface="Arial"/>
                </a:rPr>
                <a:t>Secondary Question 2.1:</a:t>
              </a:r>
              <a:r>
                <a:rPr lang="en-US" sz="1300" b="0" i="0" u="none" strike="noStrike" cap="none" dirty="0">
                  <a:solidFill>
                    <a:schemeClr val="dk1"/>
                  </a:solidFill>
                  <a:latin typeface="Arial"/>
                  <a:ea typeface="Arial"/>
                  <a:cs typeface="Arial"/>
                  <a:sym typeface="Arial"/>
                </a:rPr>
                <a:t> After controlling for size, does the "Shared" segment still offer lower rents?</a:t>
              </a:r>
              <a:endParaRPr dirty="0"/>
            </a:p>
          </p:txBody>
        </p:sp>
        <p:sp>
          <p:nvSpPr>
            <p:cNvPr id="159" name="Google Shape;159;p4"/>
            <p:cNvSpPr/>
            <p:nvPr/>
          </p:nvSpPr>
          <p:spPr>
            <a:xfrm>
              <a:off x="0" y="2690615"/>
              <a:ext cx="11156950" cy="1076062"/>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325508" y="2932729"/>
              <a:ext cx="591834" cy="59183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4"/>
            <p:cNvSpPr/>
            <p:nvPr/>
          </p:nvSpPr>
          <p:spPr>
            <a:xfrm>
              <a:off x="1242852" y="2690615"/>
              <a:ext cx="5020627" cy="107606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txBox="1"/>
            <p:nvPr/>
          </p:nvSpPr>
          <p:spPr>
            <a:xfrm>
              <a:off x="1242852" y="2690615"/>
              <a:ext cx="5020627" cy="1076062"/>
            </a:xfrm>
            <a:prstGeom prst="rect">
              <a:avLst/>
            </a:prstGeom>
            <a:noFill/>
            <a:ln>
              <a:noFill/>
            </a:ln>
          </p:spPr>
          <p:txBody>
            <a:bodyPr spcFirstLastPara="1" wrap="square" lIns="113875" tIns="113875" rIns="113875" bIns="113875" anchor="ctr" anchorCtr="0">
              <a:noAutofit/>
            </a:bodyPr>
            <a:lstStyle/>
            <a:p>
              <a:pPr marL="0" marR="0" lvl="0" indent="0" algn="l" rtl="0">
                <a:lnSpc>
                  <a:spcPct val="9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Can landlord incentives (rent discounts, free months) be predicted based on market conditions?</a:t>
              </a:r>
              <a:r>
                <a:rPr lang="en-US" sz="2000" b="0" i="0" u="none" strike="noStrike" cap="none">
                  <a:solidFill>
                    <a:schemeClr val="dk1"/>
                  </a:solidFill>
                  <a:latin typeface="Arial"/>
                  <a:ea typeface="Arial"/>
                  <a:cs typeface="Arial"/>
                  <a:sym typeface="Arial"/>
                </a:rPr>
                <a:t> </a:t>
              </a:r>
              <a:endParaRPr/>
            </a:p>
          </p:txBody>
        </p:sp>
        <p:sp>
          <p:nvSpPr>
            <p:cNvPr id="163" name="Google Shape;163;p4"/>
            <p:cNvSpPr/>
            <p:nvPr/>
          </p:nvSpPr>
          <p:spPr>
            <a:xfrm>
              <a:off x="6263479" y="2690615"/>
              <a:ext cx="4893470" cy="107606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txBox="1"/>
            <p:nvPr/>
          </p:nvSpPr>
          <p:spPr>
            <a:xfrm>
              <a:off x="6263479" y="2690615"/>
              <a:ext cx="4893470" cy="1076062"/>
            </a:xfrm>
            <a:prstGeom prst="rect">
              <a:avLst/>
            </a:prstGeom>
            <a:noFill/>
            <a:ln>
              <a:noFill/>
            </a:ln>
          </p:spPr>
          <p:txBody>
            <a:bodyPr spcFirstLastPara="1" wrap="square" lIns="113875" tIns="113875" rIns="113875" bIns="113875" anchor="ctr" anchorCtr="0">
              <a:noAutofit/>
            </a:bodyPr>
            <a:lstStyle/>
            <a:p>
              <a:pPr marL="0" marR="0" lvl="0" indent="0" algn="l" rtl="0">
                <a:lnSpc>
                  <a:spcPct val="90000"/>
                </a:lnSpc>
                <a:spcBef>
                  <a:spcPts val="0"/>
                </a:spcBef>
                <a:spcAft>
                  <a:spcPts val="0"/>
                </a:spcAft>
                <a:buClr>
                  <a:schemeClr val="dk1"/>
                </a:buClr>
                <a:buSzPts val="1300"/>
                <a:buFont typeface="Arial"/>
                <a:buNone/>
              </a:pPr>
              <a:r>
                <a:rPr lang="en-US" sz="1300" b="1" i="0" u="none" strike="noStrike" cap="none">
                  <a:solidFill>
                    <a:schemeClr val="dk1"/>
                  </a:solidFill>
                  <a:latin typeface="Arial"/>
                  <a:ea typeface="Arial"/>
                  <a:cs typeface="Arial"/>
                  <a:sym typeface="Arial"/>
                </a:rPr>
                <a:t>Secondary Question 3.1:</a:t>
              </a:r>
              <a:r>
                <a:rPr lang="en-US" sz="1300" b="0" i="0" u="none" strike="noStrike" cap="none">
                  <a:solidFill>
                    <a:schemeClr val="dk1"/>
                  </a:solidFill>
                  <a:latin typeface="Arial"/>
                  <a:ea typeface="Arial"/>
                  <a:cs typeface="Arial"/>
                  <a:sym typeface="Arial"/>
                </a:rPr>
                <a:t> How do incentives vary across rent segments?</a:t>
              </a:r>
              <a:endParaRPr/>
            </a:p>
            <a:p>
              <a:pPr marL="0" marR="0" lvl="0" indent="0" algn="l" rtl="0">
                <a:lnSpc>
                  <a:spcPct val="90000"/>
                </a:lnSpc>
                <a:spcBef>
                  <a:spcPts val="455"/>
                </a:spcBef>
                <a:spcAft>
                  <a:spcPts val="0"/>
                </a:spcAft>
                <a:buClr>
                  <a:schemeClr val="dk1"/>
                </a:buClr>
                <a:buSzPts val="1300"/>
                <a:buFont typeface="Arial"/>
                <a:buNone/>
              </a:pPr>
              <a:r>
                <a:rPr lang="en-US" sz="1300" b="1" i="0" u="none" strike="noStrike" cap="none">
                  <a:solidFill>
                    <a:schemeClr val="dk1"/>
                  </a:solidFill>
                  <a:latin typeface="Arial"/>
                  <a:ea typeface="Arial"/>
                  <a:cs typeface="Arial"/>
                  <a:sym typeface="Arial"/>
                </a:rPr>
                <a:t>Secondary Question 3.2:</a:t>
              </a:r>
              <a:r>
                <a:rPr lang="en-US" sz="1300" b="0" i="0" u="none" strike="noStrike" cap="none">
                  <a:solidFill>
                    <a:schemeClr val="dk1"/>
                  </a:solidFill>
                  <a:latin typeface="Arial"/>
                  <a:ea typeface="Arial"/>
                  <a:cs typeface="Arial"/>
                  <a:sym typeface="Arial"/>
                </a:rPr>
                <a:t> Are incentives more common in high vacancy segments?</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p5"/>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0" name="Google Shape;170;p5"/>
          <p:cNvSpPr txBox="1">
            <a:spLocks noGrp="1"/>
          </p:cNvSpPr>
          <p:nvPr>
            <p:ph type="title"/>
          </p:nvPr>
        </p:nvSpPr>
        <p:spPr>
          <a:xfrm>
            <a:off x="521208" y="978408"/>
            <a:ext cx="4032504" cy="336499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Methodology Overview</a:t>
            </a:r>
            <a:endParaRPr/>
          </a:p>
        </p:txBody>
      </p:sp>
      <p:sp>
        <p:nvSpPr>
          <p:cNvPr id="171" name="Google Shape;171;p5"/>
          <p:cNvSpPr/>
          <p:nvPr/>
        </p:nvSpPr>
        <p:spPr>
          <a:xfrm>
            <a:off x="517870" y="508090"/>
            <a:ext cx="4032504"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2" name="Google Shape;172;p5"/>
          <p:cNvSpPr/>
          <p:nvPr/>
        </p:nvSpPr>
        <p:spPr>
          <a:xfrm>
            <a:off x="5065776" y="611650"/>
            <a:ext cx="6620256"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73" name="Google Shape;173;p5"/>
          <p:cNvGrpSpPr/>
          <p:nvPr/>
        </p:nvGrpSpPr>
        <p:grpSpPr>
          <a:xfrm>
            <a:off x="5897187" y="981467"/>
            <a:ext cx="4957433" cy="5370553"/>
            <a:chOff x="831411" y="3059"/>
            <a:chExt cx="4957433" cy="5370553"/>
          </a:xfrm>
        </p:grpSpPr>
        <p:sp>
          <p:nvSpPr>
            <p:cNvPr id="174" name="Google Shape;174;p5"/>
            <p:cNvSpPr/>
            <p:nvPr/>
          </p:nvSpPr>
          <p:spPr>
            <a:xfrm>
              <a:off x="831411" y="3059"/>
              <a:ext cx="2065597" cy="1239358"/>
            </a:xfrm>
            <a:prstGeom prst="roundRect">
              <a:avLst>
                <a:gd name="adj" fmla="val 10000"/>
              </a:avLst>
            </a:prstGeom>
            <a:solidFill>
              <a:schemeClr val="accent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txBox="1"/>
            <p:nvPr/>
          </p:nvSpPr>
          <p:spPr>
            <a:xfrm>
              <a:off x="867711" y="39359"/>
              <a:ext cx="1992997" cy="1166758"/>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Data collection from multiple sources (APIs, datasets)</a:t>
              </a:r>
              <a:endParaRPr sz="1700" b="0" i="0" u="none" strike="noStrike" cap="none">
                <a:solidFill>
                  <a:schemeClr val="lt1"/>
                </a:solidFill>
                <a:latin typeface="Arial"/>
                <a:ea typeface="Arial"/>
                <a:cs typeface="Arial"/>
                <a:sym typeface="Arial"/>
              </a:endParaRPr>
            </a:p>
          </p:txBody>
        </p:sp>
        <p:sp>
          <p:nvSpPr>
            <p:cNvPr id="176" name="Google Shape;176;p5"/>
            <p:cNvSpPr/>
            <p:nvPr/>
          </p:nvSpPr>
          <p:spPr>
            <a:xfrm>
              <a:off x="3078781" y="366604"/>
              <a:ext cx="437906" cy="512268"/>
            </a:xfrm>
            <a:prstGeom prst="rightArrow">
              <a:avLst>
                <a:gd name="adj1" fmla="val 60000"/>
                <a:gd name="adj2"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txBox="1"/>
            <p:nvPr/>
          </p:nvSpPr>
          <p:spPr>
            <a:xfrm>
              <a:off x="3078781" y="469058"/>
              <a:ext cx="306534" cy="30736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8" name="Google Shape;178;p5"/>
            <p:cNvSpPr/>
            <p:nvPr/>
          </p:nvSpPr>
          <p:spPr>
            <a:xfrm>
              <a:off x="3723247" y="3059"/>
              <a:ext cx="2065597" cy="1239358"/>
            </a:xfrm>
            <a:prstGeom prst="roundRect">
              <a:avLst>
                <a:gd name="adj" fmla="val 10000"/>
              </a:avLst>
            </a:prstGeom>
            <a:solidFill>
              <a:srgbClr val="E64520"/>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txBox="1"/>
            <p:nvPr/>
          </p:nvSpPr>
          <p:spPr>
            <a:xfrm>
              <a:off x="3759547" y="39359"/>
              <a:ext cx="1992997" cy="1166758"/>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Data cleaning &amp; merging for consistency</a:t>
              </a:r>
              <a:endParaRPr sz="1700" b="0" i="0" u="none" strike="noStrike" cap="none">
                <a:solidFill>
                  <a:schemeClr val="lt1"/>
                </a:solidFill>
                <a:latin typeface="Arial"/>
                <a:ea typeface="Arial"/>
                <a:cs typeface="Arial"/>
                <a:sym typeface="Arial"/>
              </a:endParaRPr>
            </a:p>
          </p:txBody>
        </p:sp>
        <p:sp>
          <p:nvSpPr>
            <p:cNvPr id="180" name="Google Shape;180;p5"/>
            <p:cNvSpPr/>
            <p:nvPr/>
          </p:nvSpPr>
          <p:spPr>
            <a:xfrm rot="5400000">
              <a:off x="4537092" y="1387009"/>
              <a:ext cx="437906" cy="512268"/>
            </a:xfrm>
            <a:prstGeom prst="rightArrow">
              <a:avLst>
                <a:gd name="adj1" fmla="val 60000"/>
                <a:gd name="adj2" fmla="val 50000"/>
              </a:avLst>
            </a:prstGeom>
            <a:solidFill>
              <a:srgbClr val="E645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txBox="1"/>
            <p:nvPr/>
          </p:nvSpPr>
          <p:spPr>
            <a:xfrm>
              <a:off x="4602365" y="1424190"/>
              <a:ext cx="307360" cy="3065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2" name="Google Shape;182;p5"/>
            <p:cNvSpPr/>
            <p:nvPr/>
          </p:nvSpPr>
          <p:spPr>
            <a:xfrm>
              <a:off x="3723247" y="2068656"/>
              <a:ext cx="2065597" cy="1239358"/>
            </a:xfrm>
            <a:prstGeom prst="roundRect">
              <a:avLst>
                <a:gd name="adj" fmla="val 10000"/>
              </a:avLst>
            </a:prstGeom>
            <a:solidFill>
              <a:schemeClr val="accent4"/>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txBox="1"/>
            <p:nvPr/>
          </p:nvSpPr>
          <p:spPr>
            <a:xfrm>
              <a:off x="3759547" y="2104956"/>
              <a:ext cx="1992997" cy="1166758"/>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Feature engineering (lag variables, segments, incentives)</a:t>
              </a:r>
              <a:endParaRPr sz="1700" b="0" i="0" u="none" strike="noStrike" cap="none">
                <a:solidFill>
                  <a:schemeClr val="lt1"/>
                </a:solidFill>
                <a:latin typeface="Arial"/>
                <a:ea typeface="Arial"/>
                <a:cs typeface="Arial"/>
                <a:sym typeface="Arial"/>
              </a:endParaRPr>
            </a:p>
          </p:txBody>
        </p:sp>
        <p:sp>
          <p:nvSpPr>
            <p:cNvPr id="184" name="Google Shape;184;p5"/>
            <p:cNvSpPr/>
            <p:nvPr/>
          </p:nvSpPr>
          <p:spPr>
            <a:xfrm rot="10800000">
              <a:off x="3103568" y="2432201"/>
              <a:ext cx="437906" cy="512268"/>
            </a:xfrm>
            <a:prstGeom prst="rightArrow">
              <a:avLst>
                <a:gd name="adj1" fmla="val 60000"/>
                <a:gd name="adj2"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txBox="1"/>
            <p:nvPr/>
          </p:nvSpPr>
          <p:spPr>
            <a:xfrm>
              <a:off x="3234940" y="2534655"/>
              <a:ext cx="306534" cy="30736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86" name="Google Shape;186;p5"/>
            <p:cNvSpPr/>
            <p:nvPr/>
          </p:nvSpPr>
          <p:spPr>
            <a:xfrm>
              <a:off x="831411" y="2068656"/>
              <a:ext cx="2065597" cy="1239358"/>
            </a:xfrm>
            <a:prstGeom prst="roundRect">
              <a:avLst>
                <a:gd name="adj" fmla="val 10000"/>
              </a:avLst>
            </a:prstGeom>
            <a:solidFill>
              <a:srgbClr val="FE5C20"/>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txBox="1"/>
            <p:nvPr/>
          </p:nvSpPr>
          <p:spPr>
            <a:xfrm>
              <a:off x="867711" y="2104956"/>
              <a:ext cx="1992997" cy="1166758"/>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Statistical analysis: regression, cross-correlation, logistic regression</a:t>
              </a:r>
              <a:endParaRPr sz="1700" b="0" i="0" u="none" strike="noStrike" cap="none">
                <a:solidFill>
                  <a:schemeClr val="lt1"/>
                </a:solidFill>
                <a:latin typeface="Arial"/>
                <a:ea typeface="Arial"/>
                <a:cs typeface="Arial"/>
                <a:sym typeface="Arial"/>
              </a:endParaRPr>
            </a:p>
          </p:txBody>
        </p:sp>
        <p:sp>
          <p:nvSpPr>
            <p:cNvPr id="188" name="Google Shape;188;p5"/>
            <p:cNvSpPr/>
            <p:nvPr/>
          </p:nvSpPr>
          <p:spPr>
            <a:xfrm rot="5400000">
              <a:off x="1645256" y="3452607"/>
              <a:ext cx="437906" cy="512268"/>
            </a:xfrm>
            <a:prstGeom prst="rightArrow">
              <a:avLst>
                <a:gd name="adj1" fmla="val 60000"/>
                <a:gd name="adj2" fmla="val 50000"/>
              </a:avLst>
            </a:prstGeom>
            <a:solidFill>
              <a:srgbClr val="FE5C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txBox="1"/>
            <p:nvPr/>
          </p:nvSpPr>
          <p:spPr>
            <a:xfrm>
              <a:off x="1710529" y="3489788"/>
              <a:ext cx="307360" cy="30653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0" name="Google Shape;190;p5"/>
            <p:cNvSpPr/>
            <p:nvPr/>
          </p:nvSpPr>
          <p:spPr>
            <a:xfrm>
              <a:off x="831411" y="4134254"/>
              <a:ext cx="2065597" cy="1239358"/>
            </a:xfrm>
            <a:prstGeom prst="roundRect">
              <a:avLst>
                <a:gd name="adj" fmla="val 10000"/>
              </a:avLst>
            </a:prstGeom>
            <a:solidFill>
              <a:srgbClr val="00C776"/>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txBox="1"/>
            <p:nvPr/>
          </p:nvSpPr>
          <p:spPr>
            <a:xfrm>
              <a:off x="867711" y="4170554"/>
              <a:ext cx="1992997" cy="1166758"/>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Visualization for insights and interpretation</a:t>
              </a:r>
              <a:endParaRPr sz="1700" b="0" i="0" u="none" strike="noStrike" cap="none">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6"/>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Data Collection &amp; Technical Workflow</a:t>
            </a:r>
            <a:endParaRPr/>
          </a:p>
        </p:txBody>
      </p:sp>
      <p:sp>
        <p:nvSpPr>
          <p:cNvPr id="197" name="Google Shape;197;p6"/>
          <p:cNvSpPr txBox="1">
            <a:spLocks noGrp="1"/>
          </p:cNvSpPr>
          <p:nvPr>
            <p:ph type="body" idx="1"/>
          </p:nvPr>
        </p:nvSpPr>
        <p:spPr>
          <a:xfrm>
            <a:off x="521208" y="2165131"/>
            <a:ext cx="11155680" cy="4180805"/>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Scraper Engine:</a:t>
            </a:r>
            <a:r>
              <a:rPr lang="en-US"/>
              <a:t> Automated collection of 5,525 rental listings via RentFaster API and Bank of Canada Valet API</a:t>
            </a:r>
            <a:endParaRPr/>
          </a:p>
          <a:p>
            <a:pPr marL="228600" lvl="0" indent="-228600" algn="l" rtl="0">
              <a:lnSpc>
                <a:spcPct val="110000"/>
              </a:lnSpc>
              <a:spcBef>
                <a:spcPts val="1000"/>
              </a:spcBef>
              <a:spcAft>
                <a:spcPts val="0"/>
              </a:spcAft>
              <a:buClr>
                <a:schemeClr val="dk1"/>
              </a:buClr>
              <a:buSzPts val="1800"/>
              <a:buChar char="•"/>
            </a:pPr>
            <a:r>
              <a:rPr lang="en-US" b="1"/>
              <a:t>Data Pipeline Components:</a:t>
            </a:r>
            <a:endParaRPr/>
          </a:p>
          <a:p>
            <a:pPr marL="685800" lvl="1" indent="-228600" algn="l" rtl="0">
              <a:lnSpc>
                <a:spcPct val="110000"/>
              </a:lnSpc>
              <a:spcBef>
                <a:spcPts val="500"/>
              </a:spcBef>
              <a:spcAft>
                <a:spcPts val="0"/>
              </a:spcAft>
              <a:buClr>
                <a:schemeClr val="dk1"/>
              </a:buClr>
              <a:buSzPts val="1600"/>
              <a:buChar char="•"/>
            </a:pPr>
            <a:r>
              <a:rPr lang="en-US" b="1"/>
              <a:t>Cleaning:</a:t>
            </a:r>
            <a:r>
              <a:rPr lang="en-US"/>
              <a:t> jsonlite flattening, janitor cleaning, coalesce for robust column mapping</a:t>
            </a:r>
            <a:endParaRPr/>
          </a:p>
          <a:p>
            <a:pPr marL="685800" lvl="1" indent="-228600" algn="l" rtl="0">
              <a:lnSpc>
                <a:spcPct val="110000"/>
              </a:lnSpc>
              <a:spcBef>
                <a:spcPts val="500"/>
              </a:spcBef>
              <a:spcAft>
                <a:spcPts val="0"/>
              </a:spcAft>
              <a:buClr>
                <a:schemeClr val="dk1"/>
              </a:buClr>
              <a:buSzPts val="1600"/>
              <a:buChar char="•"/>
            </a:pPr>
            <a:r>
              <a:rPr lang="en-US" b="1"/>
              <a:t>Merging:</a:t>
            </a:r>
            <a:r>
              <a:rPr lang="en-US"/>
              <a:t> Joining daily interest rates with monthly rental snapshots using lubridate</a:t>
            </a:r>
            <a:endParaRPr/>
          </a:p>
          <a:p>
            <a:pPr marL="685800" lvl="1" indent="-228600" algn="l" rtl="0">
              <a:lnSpc>
                <a:spcPct val="110000"/>
              </a:lnSpc>
              <a:spcBef>
                <a:spcPts val="500"/>
              </a:spcBef>
              <a:spcAft>
                <a:spcPts val="0"/>
              </a:spcAft>
              <a:buClr>
                <a:schemeClr val="dk1"/>
              </a:buClr>
              <a:buSzPts val="1600"/>
              <a:buChar char="•"/>
            </a:pPr>
            <a:r>
              <a:rPr lang="en-US" b="1"/>
              <a:t>Feature Engineering:</a:t>
            </a:r>
            <a:r>
              <a:rPr lang="en-US"/>
              <a:t> Creating segment categories &amp; binary incentive flags</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7"/>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Data Sources &amp; Variables</a:t>
            </a:r>
            <a:endParaRPr/>
          </a:p>
        </p:txBody>
      </p:sp>
      <p:sp>
        <p:nvSpPr>
          <p:cNvPr id="203" name="Google Shape;203;p7"/>
          <p:cNvSpPr txBox="1">
            <a:spLocks noGrp="1"/>
          </p:cNvSpPr>
          <p:nvPr>
            <p:ph type="body" idx="1"/>
          </p:nvPr>
        </p:nvSpPr>
        <p:spPr>
          <a:xfrm>
            <a:off x="521208" y="2102069"/>
            <a:ext cx="11155680" cy="4243867"/>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Interest Rates:</a:t>
            </a:r>
            <a:r>
              <a:rPr lang="en-US"/>
              <a:t> Monthly policy interest rates from Bank of Canada API</a:t>
            </a:r>
            <a:endParaRPr/>
          </a:p>
          <a:p>
            <a:pPr marL="228600" lvl="0" indent="-228600" algn="l" rtl="0">
              <a:lnSpc>
                <a:spcPct val="110000"/>
              </a:lnSpc>
              <a:spcBef>
                <a:spcPts val="1000"/>
              </a:spcBef>
              <a:spcAft>
                <a:spcPts val="0"/>
              </a:spcAft>
              <a:buClr>
                <a:schemeClr val="dk1"/>
              </a:buClr>
              <a:buSzPts val="1800"/>
              <a:buChar char="•"/>
            </a:pPr>
            <a:r>
              <a:rPr lang="en-US" b="1"/>
              <a:t>Rental Listings:</a:t>
            </a:r>
            <a:r>
              <a:rPr lang="en-US"/>
              <a:t> Data from RentFaster API (price bands, property features)</a:t>
            </a:r>
            <a:endParaRPr/>
          </a:p>
          <a:p>
            <a:pPr marL="228600" lvl="0" indent="-228600" algn="l" rtl="0">
              <a:lnSpc>
                <a:spcPct val="110000"/>
              </a:lnSpc>
              <a:spcBef>
                <a:spcPts val="1000"/>
              </a:spcBef>
              <a:spcAft>
                <a:spcPts val="0"/>
              </a:spcAft>
              <a:buClr>
                <a:schemeClr val="dk1"/>
              </a:buClr>
              <a:buSzPts val="1800"/>
              <a:buChar char="•"/>
            </a:pPr>
            <a:r>
              <a:rPr lang="en-US" b="1"/>
              <a:t>Housing &amp; Economic Data:</a:t>
            </a:r>
            <a:r>
              <a:rPr lang="en-US"/>
              <a:t> CREB, AREA, StatCan datasets (prices, population, economic indicators)</a:t>
            </a:r>
            <a:endParaRPr/>
          </a:p>
          <a:p>
            <a:pPr marL="228600" lvl="0" indent="-228600" algn="l" rtl="0">
              <a:lnSpc>
                <a:spcPct val="110000"/>
              </a:lnSpc>
              <a:spcBef>
                <a:spcPts val="1000"/>
              </a:spcBef>
              <a:spcAft>
                <a:spcPts val="0"/>
              </a:spcAft>
              <a:buClr>
                <a:schemeClr val="dk1"/>
              </a:buClr>
              <a:buSzPts val="1800"/>
              <a:buChar char="•"/>
            </a:pPr>
            <a:r>
              <a:rPr lang="en-US" b="1"/>
              <a:t>Key Variables:</a:t>
            </a:r>
            <a:endParaRPr/>
          </a:p>
          <a:p>
            <a:pPr marL="685800" lvl="1" indent="-228600" algn="l" rtl="0">
              <a:lnSpc>
                <a:spcPct val="110000"/>
              </a:lnSpc>
              <a:spcBef>
                <a:spcPts val="500"/>
              </a:spcBef>
              <a:spcAft>
                <a:spcPts val="0"/>
              </a:spcAft>
              <a:buClr>
                <a:schemeClr val="dk1"/>
              </a:buClr>
              <a:buSzPts val="1600"/>
              <a:buChar char="•"/>
            </a:pPr>
            <a:r>
              <a:rPr lang="en-US"/>
              <a:t>Rental price, number of bedrooms, property size (sq ft.), property type</a:t>
            </a:r>
            <a:endParaRPr/>
          </a:p>
          <a:p>
            <a:pPr marL="685800" lvl="1" indent="-228600" algn="l" rtl="0">
              <a:lnSpc>
                <a:spcPct val="110000"/>
              </a:lnSpc>
              <a:spcBef>
                <a:spcPts val="500"/>
              </a:spcBef>
              <a:spcAft>
                <a:spcPts val="0"/>
              </a:spcAft>
              <a:buClr>
                <a:schemeClr val="dk1"/>
              </a:buClr>
              <a:buSzPts val="1600"/>
              <a:buChar char="•"/>
            </a:pPr>
            <a:r>
              <a:rPr lang="en-US"/>
              <a:t>Incentive indicators (rent discounts, free months)</a:t>
            </a:r>
            <a:endParaRPr/>
          </a:p>
          <a:p>
            <a:pPr marL="685800" lvl="1" indent="-228600" algn="l" rtl="0">
              <a:lnSpc>
                <a:spcPct val="110000"/>
              </a:lnSpc>
              <a:spcBef>
                <a:spcPts val="500"/>
              </a:spcBef>
              <a:spcAft>
                <a:spcPts val="0"/>
              </a:spcAft>
              <a:buClr>
                <a:schemeClr val="dk1"/>
              </a:buClr>
              <a:buSzPts val="1600"/>
              <a:buChar char="•"/>
            </a:pPr>
            <a:r>
              <a:rPr lang="en-US"/>
              <a:t>Interest rate lagged variables (1-6 months)</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7"/>
        <p:cNvGrpSpPr/>
        <p:nvPr/>
      </p:nvGrpSpPr>
      <p:grpSpPr>
        <a:xfrm>
          <a:off x="0" y="0"/>
          <a:ext cx="0" cy="0"/>
          <a:chOff x="0" y="0"/>
          <a:chExt cx="0" cy="0"/>
        </a:xfrm>
      </p:grpSpPr>
      <p:sp>
        <p:nvSpPr>
          <p:cNvPr id="208" name="Google Shape;208;p8"/>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9" name="Google Shape;209;p8"/>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Data Preparation &amp; Cleaning</a:t>
            </a:r>
            <a:endParaRPr/>
          </a:p>
        </p:txBody>
      </p:sp>
      <p:sp>
        <p:nvSpPr>
          <p:cNvPr id="210" name="Google Shape;210;p8"/>
          <p:cNvSpPr/>
          <p:nvPr/>
        </p:nvSpPr>
        <p:spPr>
          <a:xfrm>
            <a:off x="517869" y="508090"/>
            <a:ext cx="11155680"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211" name="Google Shape;211;p8"/>
          <p:cNvGrpSpPr/>
          <p:nvPr/>
        </p:nvGrpSpPr>
        <p:grpSpPr>
          <a:xfrm>
            <a:off x="527400" y="3204877"/>
            <a:ext cx="11143548" cy="2513582"/>
            <a:chOff x="6700" y="626777"/>
            <a:chExt cx="11143548" cy="2513582"/>
          </a:xfrm>
        </p:grpSpPr>
        <p:sp>
          <p:nvSpPr>
            <p:cNvPr id="212" name="Google Shape;212;p8"/>
            <p:cNvSpPr/>
            <p:nvPr/>
          </p:nvSpPr>
          <p:spPr>
            <a:xfrm>
              <a:off x="6700" y="626777"/>
              <a:ext cx="2094651" cy="2513582"/>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8"/>
            <p:cNvSpPr txBox="1"/>
            <p:nvPr/>
          </p:nvSpPr>
          <p:spPr>
            <a:xfrm>
              <a:off x="6700" y="1632210"/>
              <a:ext cx="2094651" cy="1508149"/>
            </a:xfrm>
            <a:prstGeom prst="rect">
              <a:avLst/>
            </a:prstGeom>
            <a:noFill/>
            <a:ln>
              <a:noFill/>
            </a:ln>
          </p:spPr>
          <p:txBody>
            <a:bodyPr spcFirstLastPara="1" wrap="square" lIns="206900" tIns="0" rIns="206900" bIns="33020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Standardized date formats (YYYY-MM)</a:t>
              </a:r>
              <a:endParaRPr sz="1700" b="0" i="0" u="none" strike="noStrike" cap="none">
                <a:solidFill>
                  <a:schemeClr val="lt1"/>
                </a:solidFill>
                <a:latin typeface="Arial"/>
                <a:ea typeface="Arial"/>
                <a:cs typeface="Arial"/>
                <a:sym typeface="Arial"/>
              </a:endParaRPr>
            </a:p>
          </p:txBody>
        </p:sp>
        <p:sp>
          <p:nvSpPr>
            <p:cNvPr id="214" name="Google Shape;214;p8"/>
            <p:cNvSpPr/>
            <p:nvPr/>
          </p:nvSpPr>
          <p:spPr>
            <a:xfrm>
              <a:off x="6700" y="626777"/>
              <a:ext cx="2094651" cy="100543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8"/>
            <p:cNvSpPr txBox="1"/>
            <p:nvPr/>
          </p:nvSpPr>
          <p:spPr>
            <a:xfrm>
              <a:off x="6700" y="626777"/>
              <a:ext cx="2094651" cy="1005432"/>
            </a:xfrm>
            <a:prstGeom prst="rect">
              <a:avLst/>
            </a:prstGeom>
            <a:noFill/>
            <a:ln>
              <a:noFill/>
            </a:ln>
          </p:spPr>
          <p:txBody>
            <a:bodyPr spcFirstLastPara="1" wrap="square" lIns="206900" tIns="165100" rIns="206900" bIns="165100" anchor="ctr" anchorCtr="0">
              <a:noAutofit/>
            </a:bodyPr>
            <a:lstStyle/>
            <a:p>
              <a:pPr marL="0" marR="0" lvl="0" indent="0" algn="l" rtl="0">
                <a:lnSpc>
                  <a:spcPct val="90000"/>
                </a:lnSpc>
                <a:spcBef>
                  <a:spcPts val="0"/>
                </a:spcBef>
                <a:spcAft>
                  <a:spcPts val="0"/>
                </a:spcAft>
                <a:buClr>
                  <a:schemeClr val="lt1"/>
                </a:buClr>
                <a:buSzPts val="4900"/>
                <a:buFont typeface="Arial"/>
                <a:buNone/>
              </a:pPr>
              <a:r>
                <a:rPr lang="en-US" sz="4900" b="0" i="0" u="none" strike="noStrike" cap="none">
                  <a:solidFill>
                    <a:schemeClr val="lt1"/>
                  </a:solidFill>
                  <a:latin typeface="Arial"/>
                  <a:ea typeface="Arial"/>
                  <a:cs typeface="Arial"/>
                  <a:sym typeface="Arial"/>
                </a:rPr>
                <a:t>01</a:t>
              </a:r>
              <a:endParaRPr/>
            </a:p>
          </p:txBody>
        </p:sp>
        <p:sp>
          <p:nvSpPr>
            <p:cNvPr id="216" name="Google Shape;216;p8"/>
            <p:cNvSpPr/>
            <p:nvPr/>
          </p:nvSpPr>
          <p:spPr>
            <a:xfrm>
              <a:off x="2268924" y="626777"/>
              <a:ext cx="2094651" cy="2513582"/>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8"/>
            <p:cNvSpPr txBox="1"/>
            <p:nvPr/>
          </p:nvSpPr>
          <p:spPr>
            <a:xfrm>
              <a:off x="2268924" y="1632210"/>
              <a:ext cx="2094651" cy="1508149"/>
            </a:xfrm>
            <a:prstGeom prst="rect">
              <a:avLst/>
            </a:prstGeom>
            <a:noFill/>
            <a:ln>
              <a:noFill/>
            </a:ln>
          </p:spPr>
          <p:txBody>
            <a:bodyPr spcFirstLastPara="1" wrap="square" lIns="206900" tIns="0" rIns="206900" bIns="33020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Created lagged interest rate variables to analyze delayed effects</a:t>
              </a:r>
              <a:endParaRPr sz="1700" b="0" i="0" u="none" strike="noStrike" cap="none">
                <a:solidFill>
                  <a:schemeClr val="lt1"/>
                </a:solidFill>
                <a:latin typeface="Arial"/>
                <a:ea typeface="Arial"/>
                <a:cs typeface="Arial"/>
                <a:sym typeface="Arial"/>
              </a:endParaRPr>
            </a:p>
          </p:txBody>
        </p:sp>
        <p:sp>
          <p:nvSpPr>
            <p:cNvPr id="218" name="Google Shape;218;p8"/>
            <p:cNvSpPr/>
            <p:nvPr/>
          </p:nvSpPr>
          <p:spPr>
            <a:xfrm>
              <a:off x="2268924" y="626777"/>
              <a:ext cx="2094651" cy="100543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8"/>
            <p:cNvSpPr txBox="1"/>
            <p:nvPr/>
          </p:nvSpPr>
          <p:spPr>
            <a:xfrm>
              <a:off x="2268924" y="626777"/>
              <a:ext cx="2094651" cy="1005432"/>
            </a:xfrm>
            <a:prstGeom prst="rect">
              <a:avLst/>
            </a:prstGeom>
            <a:noFill/>
            <a:ln>
              <a:noFill/>
            </a:ln>
          </p:spPr>
          <p:txBody>
            <a:bodyPr spcFirstLastPara="1" wrap="square" lIns="206900" tIns="165100" rIns="206900" bIns="165100" anchor="ctr" anchorCtr="0">
              <a:noAutofit/>
            </a:bodyPr>
            <a:lstStyle/>
            <a:p>
              <a:pPr marL="0" marR="0" lvl="0" indent="0" algn="l" rtl="0">
                <a:lnSpc>
                  <a:spcPct val="90000"/>
                </a:lnSpc>
                <a:spcBef>
                  <a:spcPts val="0"/>
                </a:spcBef>
                <a:spcAft>
                  <a:spcPts val="0"/>
                </a:spcAft>
                <a:buClr>
                  <a:schemeClr val="lt1"/>
                </a:buClr>
                <a:buSzPts val="4900"/>
                <a:buFont typeface="Arial"/>
                <a:buNone/>
              </a:pPr>
              <a:r>
                <a:rPr lang="en-US" sz="4900" b="0" i="0" u="none" strike="noStrike" cap="none">
                  <a:solidFill>
                    <a:schemeClr val="lt1"/>
                  </a:solidFill>
                  <a:latin typeface="Arial"/>
                  <a:ea typeface="Arial"/>
                  <a:cs typeface="Arial"/>
                  <a:sym typeface="Arial"/>
                </a:rPr>
                <a:t>02</a:t>
              </a:r>
              <a:endParaRPr/>
            </a:p>
          </p:txBody>
        </p:sp>
        <p:sp>
          <p:nvSpPr>
            <p:cNvPr id="220" name="Google Shape;220;p8"/>
            <p:cNvSpPr/>
            <p:nvPr/>
          </p:nvSpPr>
          <p:spPr>
            <a:xfrm>
              <a:off x="4531149" y="626777"/>
              <a:ext cx="2094651" cy="2513582"/>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8"/>
            <p:cNvSpPr txBox="1"/>
            <p:nvPr/>
          </p:nvSpPr>
          <p:spPr>
            <a:xfrm>
              <a:off x="4531149" y="1632210"/>
              <a:ext cx="2094651" cy="1508149"/>
            </a:xfrm>
            <a:prstGeom prst="rect">
              <a:avLst/>
            </a:prstGeom>
            <a:noFill/>
            <a:ln>
              <a:noFill/>
            </a:ln>
          </p:spPr>
          <p:txBody>
            <a:bodyPr spcFirstLastPara="1" wrap="square" lIns="206900" tIns="0" rIns="206900" bIns="33020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Removed duplicates based on listing IDs</a:t>
              </a:r>
              <a:endParaRPr sz="1700" b="0" i="0" u="none" strike="noStrike" cap="none">
                <a:solidFill>
                  <a:schemeClr val="lt1"/>
                </a:solidFill>
                <a:latin typeface="Arial"/>
                <a:ea typeface="Arial"/>
                <a:cs typeface="Arial"/>
                <a:sym typeface="Arial"/>
              </a:endParaRPr>
            </a:p>
          </p:txBody>
        </p:sp>
        <p:sp>
          <p:nvSpPr>
            <p:cNvPr id="222" name="Google Shape;222;p8"/>
            <p:cNvSpPr/>
            <p:nvPr/>
          </p:nvSpPr>
          <p:spPr>
            <a:xfrm>
              <a:off x="4531149" y="626777"/>
              <a:ext cx="2094651" cy="100543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txBox="1"/>
            <p:nvPr/>
          </p:nvSpPr>
          <p:spPr>
            <a:xfrm>
              <a:off x="4531149" y="626777"/>
              <a:ext cx="2094651" cy="1005432"/>
            </a:xfrm>
            <a:prstGeom prst="rect">
              <a:avLst/>
            </a:prstGeom>
            <a:noFill/>
            <a:ln>
              <a:noFill/>
            </a:ln>
          </p:spPr>
          <p:txBody>
            <a:bodyPr spcFirstLastPara="1" wrap="square" lIns="206900" tIns="165100" rIns="206900" bIns="165100" anchor="ctr" anchorCtr="0">
              <a:noAutofit/>
            </a:bodyPr>
            <a:lstStyle/>
            <a:p>
              <a:pPr marL="0" marR="0" lvl="0" indent="0" algn="l" rtl="0">
                <a:lnSpc>
                  <a:spcPct val="90000"/>
                </a:lnSpc>
                <a:spcBef>
                  <a:spcPts val="0"/>
                </a:spcBef>
                <a:spcAft>
                  <a:spcPts val="0"/>
                </a:spcAft>
                <a:buClr>
                  <a:schemeClr val="lt1"/>
                </a:buClr>
                <a:buSzPts val="4900"/>
                <a:buFont typeface="Arial"/>
                <a:buNone/>
              </a:pPr>
              <a:r>
                <a:rPr lang="en-US" sz="4900" b="0" i="0" u="none" strike="noStrike" cap="none">
                  <a:solidFill>
                    <a:schemeClr val="lt1"/>
                  </a:solidFill>
                  <a:latin typeface="Arial"/>
                  <a:ea typeface="Arial"/>
                  <a:cs typeface="Arial"/>
                  <a:sym typeface="Arial"/>
                </a:rPr>
                <a:t>03</a:t>
              </a:r>
              <a:endParaRPr/>
            </a:p>
          </p:txBody>
        </p:sp>
        <p:sp>
          <p:nvSpPr>
            <p:cNvPr id="224" name="Google Shape;224;p8"/>
            <p:cNvSpPr/>
            <p:nvPr/>
          </p:nvSpPr>
          <p:spPr>
            <a:xfrm>
              <a:off x="6793373" y="626777"/>
              <a:ext cx="2094651" cy="2513582"/>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txBox="1"/>
            <p:nvPr/>
          </p:nvSpPr>
          <p:spPr>
            <a:xfrm>
              <a:off x="6793373" y="1632210"/>
              <a:ext cx="2094651" cy="1508149"/>
            </a:xfrm>
            <a:prstGeom prst="rect">
              <a:avLst/>
            </a:prstGeom>
            <a:noFill/>
            <a:ln>
              <a:noFill/>
            </a:ln>
          </p:spPr>
          <p:txBody>
            <a:bodyPr spcFirstLastPara="1" wrap="square" lIns="206900" tIns="0" rIns="206900" bIns="33020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Addressed missing data via interpolation or removal</a:t>
              </a:r>
              <a:endParaRPr sz="1700" b="0" i="0" u="none" strike="noStrike" cap="none">
                <a:solidFill>
                  <a:schemeClr val="lt1"/>
                </a:solidFill>
                <a:latin typeface="Arial"/>
                <a:ea typeface="Arial"/>
                <a:cs typeface="Arial"/>
                <a:sym typeface="Arial"/>
              </a:endParaRPr>
            </a:p>
          </p:txBody>
        </p:sp>
        <p:sp>
          <p:nvSpPr>
            <p:cNvPr id="226" name="Google Shape;226;p8"/>
            <p:cNvSpPr/>
            <p:nvPr/>
          </p:nvSpPr>
          <p:spPr>
            <a:xfrm>
              <a:off x="6793373" y="626777"/>
              <a:ext cx="2094651" cy="100543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8"/>
            <p:cNvSpPr txBox="1"/>
            <p:nvPr/>
          </p:nvSpPr>
          <p:spPr>
            <a:xfrm>
              <a:off x="6793373" y="626777"/>
              <a:ext cx="2094651" cy="1005432"/>
            </a:xfrm>
            <a:prstGeom prst="rect">
              <a:avLst/>
            </a:prstGeom>
            <a:noFill/>
            <a:ln>
              <a:noFill/>
            </a:ln>
          </p:spPr>
          <p:txBody>
            <a:bodyPr spcFirstLastPara="1" wrap="square" lIns="206900" tIns="165100" rIns="206900" bIns="165100" anchor="ctr" anchorCtr="0">
              <a:noAutofit/>
            </a:bodyPr>
            <a:lstStyle/>
            <a:p>
              <a:pPr marL="0" marR="0" lvl="0" indent="0" algn="l" rtl="0">
                <a:lnSpc>
                  <a:spcPct val="90000"/>
                </a:lnSpc>
                <a:spcBef>
                  <a:spcPts val="0"/>
                </a:spcBef>
                <a:spcAft>
                  <a:spcPts val="0"/>
                </a:spcAft>
                <a:buClr>
                  <a:schemeClr val="lt1"/>
                </a:buClr>
                <a:buSzPts val="4900"/>
                <a:buFont typeface="Arial"/>
                <a:buNone/>
              </a:pPr>
              <a:r>
                <a:rPr lang="en-US" sz="4900" b="0" i="0" u="none" strike="noStrike" cap="none">
                  <a:solidFill>
                    <a:schemeClr val="lt1"/>
                  </a:solidFill>
                  <a:latin typeface="Arial"/>
                  <a:ea typeface="Arial"/>
                  <a:cs typeface="Arial"/>
                  <a:sym typeface="Arial"/>
                </a:rPr>
                <a:t>04</a:t>
              </a:r>
              <a:endParaRPr/>
            </a:p>
          </p:txBody>
        </p:sp>
        <p:sp>
          <p:nvSpPr>
            <p:cNvPr id="228" name="Google Shape;228;p8"/>
            <p:cNvSpPr/>
            <p:nvPr/>
          </p:nvSpPr>
          <p:spPr>
            <a:xfrm>
              <a:off x="9055597" y="626777"/>
              <a:ext cx="2094651" cy="2513582"/>
            </a:xfrm>
            <a:prstGeom prst="rect">
              <a:avLst/>
            </a:prstGeom>
            <a:solidFill>
              <a:schemeClr val="accent1"/>
            </a:solidFill>
            <a:ln w="1905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txBox="1"/>
            <p:nvPr/>
          </p:nvSpPr>
          <p:spPr>
            <a:xfrm>
              <a:off x="9055597" y="1632210"/>
              <a:ext cx="2094651" cy="1508149"/>
            </a:xfrm>
            <a:prstGeom prst="rect">
              <a:avLst/>
            </a:prstGeom>
            <a:noFill/>
            <a:ln>
              <a:noFill/>
            </a:ln>
          </p:spPr>
          <p:txBody>
            <a:bodyPr spcFirstLastPara="1" wrap="square" lIns="206900" tIns="0" rIns="206900" bIns="33020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b="0" i="0" u="none" strike="noStrike" cap="none">
                  <a:solidFill>
                    <a:schemeClr val="lt1"/>
                  </a:solidFill>
                  <a:latin typeface="Arial"/>
                  <a:ea typeface="Arial"/>
                  <a:cs typeface="Arial"/>
                  <a:sym typeface="Arial"/>
                </a:rPr>
                <a:t>Ensured consistency across datasets for reliable merging</a:t>
              </a:r>
              <a:endParaRPr sz="1700" b="0" i="0" u="none" strike="noStrike" cap="none">
                <a:solidFill>
                  <a:schemeClr val="lt1"/>
                </a:solidFill>
                <a:latin typeface="Arial"/>
                <a:ea typeface="Arial"/>
                <a:cs typeface="Arial"/>
                <a:sym typeface="Arial"/>
              </a:endParaRPr>
            </a:p>
          </p:txBody>
        </p:sp>
        <p:sp>
          <p:nvSpPr>
            <p:cNvPr id="230" name="Google Shape;230;p8"/>
            <p:cNvSpPr/>
            <p:nvPr/>
          </p:nvSpPr>
          <p:spPr>
            <a:xfrm>
              <a:off x="9055597" y="626777"/>
              <a:ext cx="2094651" cy="100543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8"/>
            <p:cNvSpPr txBox="1"/>
            <p:nvPr/>
          </p:nvSpPr>
          <p:spPr>
            <a:xfrm>
              <a:off x="9055597" y="626777"/>
              <a:ext cx="2094651" cy="1005432"/>
            </a:xfrm>
            <a:prstGeom prst="rect">
              <a:avLst/>
            </a:prstGeom>
            <a:noFill/>
            <a:ln>
              <a:noFill/>
            </a:ln>
          </p:spPr>
          <p:txBody>
            <a:bodyPr spcFirstLastPara="1" wrap="square" lIns="206900" tIns="165100" rIns="206900" bIns="165100" anchor="ctr" anchorCtr="0">
              <a:noAutofit/>
            </a:bodyPr>
            <a:lstStyle/>
            <a:p>
              <a:pPr marL="0" marR="0" lvl="0" indent="0" algn="l" rtl="0">
                <a:lnSpc>
                  <a:spcPct val="90000"/>
                </a:lnSpc>
                <a:spcBef>
                  <a:spcPts val="0"/>
                </a:spcBef>
                <a:spcAft>
                  <a:spcPts val="0"/>
                </a:spcAft>
                <a:buClr>
                  <a:schemeClr val="lt1"/>
                </a:buClr>
                <a:buSzPts val="4900"/>
                <a:buFont typeface="Arial"/>
                <a:buNone/>
              </a:pPr>
              <a:r>
                <a:rPr lang="en-US" sz="4900" b="0" i="0" u="none" strike="noStrike" cap="none">
                  <a:solidFill>
                    <a:schemeClr val="lt1"/>
                  </a:solidFill>
                  <a:latin typeface="Arial"/>
                  <a:ea typeface="Arial"/>
                  <a:cs typeface="Arial"/>
                  <a:sym typeface="Arial"/>
                </a:rPr>
                <a:t>05</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9"/>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Exploratory Data Analysis (EDA) &amp; Visualization</a:t>
            </a:r>
            <a:endParaRPr/>
          </a:p>
        </p:txBody>
      </p:sp>
      <p:sp>
        <p:nvSpPr>
          <p:cNvPr id="237" name="Google Shape;237;p9"/>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Histogram:</a:t>
            </a:r>
            <a:r>
              <a:rPr lang="en-US"/>
              <a:t> Distribution of Calgary rents (Feb 2026) with segment overlays</a:t>
            </a:r>
            <a:endParaRPr/>
          </a:p>
          <a:p>
            <a:pPr marL="228600" lvl="0" indent="-228600" algn="l" rtl="0">
              <a:lnSpc>
                <a:spcPct val="110000"/>
              </a:lnSpc>
              <a:spcBef>
                <a:spcPts val="1000"/>
              </a:spcBef>
              <a:spcAft>
                <a:spcPts val="0"/>
              </a:spcAft>
              <a:buClr>
                <a:schemeClr val="dk1"/>
              </a:buClr>
              <a:buSzPts val="1800"/>
              <a:buChar char="•"/>
            </a:pPr>
            <a:r>
              <a:rPr lang="en-US" b="1"/>
              <a:t>Key Stats:</a:t>
            </a:r>
            <a:endParaRPr/>
          </a:p>
          <a:p>
            <a:pPr marL="685800" lvl="1" indent="-228600" algn="l" rtl="0">
              <a:lnSpc>
                <a:spcPct val="110000"/>
              </a:lnSpc>
              <a:spcBef>
                <a:spcPts val="500"/>
              </a:spcBef>
              <a:spcAft>
                <a:spcPts val="0"/>
              </a:spcAft>
              <a:buClr>
                <a:schemeClr val="dk1"/>
              </a:buClr>
              <a:buSzPts val="1600"/>
              <a:buChar char="•"/>
            </a:pPr>
            <a:r>
              <a:rPr lang="en-US"/>
              <a:t>Shared: Median $750</a:t>
            </a:r>
            <a:endParaRPr/>
          </a:p>
          <a:p>
            <a:pPr marL="685800" lvl="1" indent="-228600" algn="l" rtl="0">
              <a:lnSpc>
                <a:spcPct val="110000"/>
              </a:lnSpc>
              <a:spcBef>
                <a:spcPts val="500"/>
              </a:spcBef>
              <a:spcAft>
                <a:spcPts val="0"/>
              </a:spcAft>
              <a:buClr>
                <a:schemeClr val="dk1"/>
              </a:buClr>
              <a:buSzPts val="1600"/>
              <a:buChar char="•"/>
            </a:pPr>
            <a:r>
              <a:rPr lang="en-US"/>
              <a:t>Apartments: Median $1,500</a:t>
            </a:r>
            <a:endParaRPr/>
          </a:p>
          <a:p>
            <a:pPr marL="685800" lvl="1" indent="-228600" algn="l" rtl="0">
              <a:lnSpc>
                <a:spcPct val="110000"/>
              </a:lnSpc>
              <a:spcBef>
                <a:spcPts val="500"/>
              </a:spcBef>
              <a:spcAft>
                <a:spcPts val="0"/>
              </a:spcAft>
              <a:buClr>
                <a:schemeClr val="dk1"/>
              </a:buClr>
              <a:buSzPts val="1600"/>
              <a:buChar char="•"/>
            </a:pPr>
            <a:r>
              <a:rPr lang="en-US"/>
              <a:t>Full Homes: Median $2,150</a:t>
            </a:r>
            <a:endParaRPr/>
          </a:p>
          <a:p>
            <a:pPr marL="228600" lvl="0" indent="-228600" algn="l" rtl="0">
              <a:lnSpc>
                <a:spcPct val="110000"/>
              </a:lnSpc>
              <a:spcBef>
                <a:spcPts val="1000"/>
              </a:spcBef>
              <a:spcAft>
                <a:spcPts val="0"/>
              </a:spcAft>
              <a:buClr>
                <a:schemeClr val="dk1"/>
              </a:buClr>
              <a:buSzPts val="1800"/>
              <a:buChar char="•"/>
            </a:pPr>
            <a:r>
              <a:rPr lang="en-US" b="1"/>
              <a:t>Insight:</a:t>
            </a:r>
            <a:r>
              <a:rPr lang="en-US"/>
              <a:t> Inventory at a 3-year high (~5,500+ units), indicating a supply surge</a:t>
            </a:r>
            <a:endParaRPr/>
          </a:p>
          <a:p>
            <a:pPr marL="228600" lvl="0" indent="-228600" algn="l" rtl="0">
              <a:lnSpc>
                <a:spcPct val="110000"/>
              </a:lnSpc>
              <a:spcBef>
                <a:spcPts val="1000"/>
              </a:spcBef>
              <a:spcAft>
                <a:spcPts val="0"/>
              </a:spcAft>
              <a:buClr>
                <a:schemeClr val="dk1"/>
              </a:buClr>
              <a:buSzPts val="1800"/>
              <a:buChar char="•"/>
            </a:pPr>
            <a:r>
              <a:rPr lang="en-US" b="1"/>
              <a:t>Visuals:</a:t>
            </a:r>
            <a:r>
              <a:rPr lang="en-US"/>
              <a:t> Use scatterplots, heatmaps, and box plots for initial insights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1"/>
        <p:cNvGrpSpPr/>
        <p:nvPr/>
      </p:nvGrpSpPr>
      <p:grpSpPr>
        <a:xfrm>
          <a:off x="0" y="0"/>
          <a:ext cx="0" cy="0"/>
          <a:chOff x="0" y="0"/>
          <a:chExt cx="0" cy="0"/>
        </a:xfrm>
      </p:grpSpPr>
      <p:sp>
        <p:nvSpPr>
          <p:cNvPr id="242" name="Google Shape;242;p10"/>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3" name="Google Shape;243;p10"/>
          <p:cNvSpPr txBox="1">
            <a:spLocks noGrp="1"/>
          </p:cNvSpPr>
          <p:nvPr>
            <p:ph type="title"/>
          </p:nvPr>
        </p:nvSpPr>
        <p:spPr>
          <a:xfrm>
            <a:off x="521208" y="978408"/>
            <a:ext cx="6281928"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Analytical Techniques</a:t>
            </a:r>
            <a:endParaRPr/>
          </a:p>
        </p:txBody>
      </p:sp>
      <p:sp>
        <p:nvSpPr>
          <p:cNvPr id="244" name="Google Shape;244;p10"/>
          <p:cNvSpPr/>
          <p:nvPr/>
        </p:nvSpPr>
        <p:spPr>
          <a:xfrm>
            <a:off x="517870" y="508090"/>
            <a:ext cx="6281928"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5" name="Google Shape;245;p10"/>
          <p:cNvSpPr txBox="1">
            <a:spLocks noGrp="1"/>
          </p:cNvSpPr>
          <p:nvPr>
            <p:ph type="body" idx="1"/>
          </p:nvPr>
        </p:nvSpPr>
        <p:spPr>
          <a:xfrm>
            <a:off x="521208" y="2578608"/>
            <a:ext cx="6281928"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Regression Analysis:</a:t>
            </a:r>
            <a:r>
              <a:rPr lang="en-US"/>
              <a:t> Test relationships between interest rates and rental supply/prices</a:t>
            </a:r>
            <a:endParaRPr/>
          </a:p>
          <a:p>
            <a:pPr marL="228600" lvl="0" indent="-228600" algn="l" rtl="0">
              <a:lnSpc>
                <a:spcPct val="110000"/>
              </a:lnSpc>
              <a:spcBef>
                <a:spcPts val="1000"/>
              </a:spcBef>
              <a:spcAft>
                <a:spcPts val="0"/>
              </a:spcAft>
              <a:buClr>
                <a:schemeClr val="dk1"/>
              </a:buClr>
              <a:buSzPts val="1800"/>
              <a:buChar char="•"/>
            </a:pPr>
            <a:r>
              <a:rPr lang="en-US" b="1"/>
              <a:t>Cross-Correlation:</a:t>
            </a:r>
            <a:r>
              <a:rPr lang="en-US"/>
              <a:t> Detect lagged effects (1-6 months) between interest rate changes and rental prices</a:t>
            </a:r>
            <a:endParaRPr/>
          </a:p>
          <a:p>
            <a:pPr marL="228600" lvl="0" indent="-228600" algn="l" rtl="0">
              <a:lnSpc>
                <a:spcPct val="110000"/>
              </a:lnSpc>
              <a:spcBef>
                <a:spcPts val="1000"/>
              </a:spcBef>
              <a:spcAft>
                <a:spcPts val="0"/>
              </a:spcAft>
              <a:buClr>
                <a:schemeClr val="dk1"/>
              </a:buClr>
              <a:buSzPts val="1800"/>
              <a:buChar char="•"/>
            </a:pPr>
            <a:r>
              <a:rPr lang="en-US" b="1"/>
              <a:t>Logistic Regression:</a:t>
            </a:r>
            <a:r>
              <a:rPr lang="en-US"/>
              <a:t> Predict likelihood of landlord incentives based on market conditions</a:t>
            </a:r>
            <a:endParaRPr/>
          </a:p>
          <a:p>
            <a:pPr marL="228600" lvl="0" indent="-228600" algn="l" rtl="0">
              <a:lnSpc>
                <a:spcPct val="110000"/>
              </a:lnSpc>
              <a:spcBef>
                <a:spcPts val="1000"/>
              </a:spcBef>
              <a:spcAft>
                <a:spcPts val="0"/>
              </a:spcAft>
              <a:buClr>
                <a:schemeClr val="dk1"/>
              </a:buClr>
              <a:buSzPts val="1800"/>
              <a:buChar char="•"/>
            </a:pPr>
            <a:r>
              <a:rPr lang="en-US" b="1"/>
              <a:t>Visualizations:</a:t>
            </a:r>
            <a:r>
              <a:rPr lang="en-US"/>
              <a:t> Scatterplots, correlation heatmaps, box plots to illustrate findings</a:t>
            </a:r>
            <a:endParaRPr/>
          </a:p>
        </p:txBody>
      </p:sp>
      <p:pic>
        <p:nvPicPr>
          <p:cNvPr id="246" name="Google Shape;246;p10" descr="Statistics"/>
          <p:cNvPicPr preferRelativeResize="0"/>
          <p:nvPr/>
        </p:nvPicPr>
        <p:blipFill rotWithShape="1">
          <a:blip r:embed="rId3">
            <a:alphaModFix/>
          </a:blip>
          <a:srcRect/>
          <a:stretch/>
        </p:blipFill>
        <p:spPr>
          <a:xfrm>
            <a:off x="7317668" y="1994644"/>
            <a:ext cx="4356461" cy="43564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1"/>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en-US"/>
              <a:t>Research Question 1 — Rental Inventory &amp; Interest Rates</a:t>
            </a:r>
            <a:br>
              <a:rPr lang="en-US" b="0"/>
            </a:br>
            <a:endParaRPr/>
          </a:p>
        </p:txBody>
      </p:sp>
      <p:sp>
        <p:nvSpPr>
          <p:cNvPr id="252" name="Google Shape;252;p11"/>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Objective:</a:t>
            </a:r>
            <a:r>
              <a:rPr lang="en-US"/>
              <a:t> Determine if changes in policy rate predict rental supply</a:t>
            </a:r>
            <a:endParaRPr/>
          </a:p>
          <a:p>
            <a:pPr marL="228600" lvl="0" indent="-228600" algn="l" rtl="0">
              <a:lnSpc>
                <a:spcPct val="110000"/>
              </a:lnSpc>
              <a:spcBef>
                <a:spcPts val="1000"/>
              </a:spcBef>
              <a:spcAft>
                <a:spcPts val="0"/>
              </a:spcAft>
              <a:buClr>
                <a:schemeClr val="dk1"/>
              </a:buClr>
              <a:buSzPts val="1800"/>
              <a:buChar char="•"/>
            </a:pPr>
            <a:r>
              <a:rPr lang="en-US"/>
              <a:t>Hypothesis: Interest rates influence rental supply</a:t>
            </a:r>
            <a:endParaRPr/>
          </a:p>
          <a:p>
            <a:pPr marL="228600" lvl="0" indent="-228600" algn="l" rtl="0">
              <a:lnSpc>
                <a:spcPct val="110000"/>
              </a:lnSpc>
              <a:spcBef>
                <a:spcPts val="1000"/>
              </a:spcBef>
              <a:spcAft>
                <a:spcPts val="0"/>
              </a:spcAft>
              <a:buClr>
                <a:schemeClr val="dk1"/>
              </a:buClr>
              <a:buSzPts val="1800"/>
              <a:buChar char="•"/>
            </a:pPr>
            <a:r>
              <a:rPr lang="en-US" b="1"/>
              <a:t>Model:</a:t>
            </a:r>
            <a:r>
              <a:rPr lang="en-US"/>
              <a:t> Simple linear regression: Rental Inventory ~ Policy Rate</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2"/>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en-US"/>
              <a:t>Visual — Scatterplot of Policy Rate vs Rental Inventory</a:t>
            </a:r>
            <a:br>
              <a:rPr lang="en-US" b="0"/>
            </a:br>
            <a:endParaRPr/>
          </a:p>
        </p:txBody>
      </p:sp>
      <p:sp>
        <p:nvSpPr>
          <p:cNvPr id="258" name="Google Shape;258;p12"/>
          <p:cNvSpPr txBox="1">
            <a:spLocks noGrp="1"/>
          </p:cNvSpPr>
          <p:nvPr>
            <p:ph type="body" idx="1"/>
          </p:nvPr>
        </p:nvSpPr>
        <p:spPr>
          <a:xfrm>
            <a:off x="521208" y="2578608"/>
            <a:ext cx="4062367"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dirty="0"/>
              <a:t>Clustering around 2.25% rate</a:t>
            </a:r>
            <a:endParaRPr dirty="0"/>
          </a:p>
          <a:p>
            <a:pPr marL="228600" lvl="0" indent="-228600"/>
            <a:r>
              <a:rPr lang="en-US" dirty="0"/>
              <a:t>No clear trend indicating influence of interest rates on rental supply during this period.</a:t>
            </a:r>
            <a:endParaRPr dirty="0"/>
          </a:p>
          <a:p>
            <a:pPr marL="228600" lvl="0" indent="-114300" algn="l" rtl="0">
              <a:lnSpc>
                <a:spcPct val="110000"/>
              </a:lnSpc>
              <a:spcBef>
                <a:spcPts val="1000"/>
              </a:spcBef>
              <a:spcAft>
                <a:spcPts val="0"/>
              </a:spcAft>
              <a:buClr>
                <a:schemeClr val="dk1"/>
              </a:buClr>
              <a:buSzPts val="1800"/>
              <a:buNone/>
            </a:pPr>
            <a:endParaRPr dirty="0"/>
          </a:p>
        </p:txBody>
      </p:sp>
      <p:pic>
        <p:nvPicPr>
          <p:cNvPr id="259" name="Google Shape;259;p12"/>
          <p:cNvPicPr preferRelativeResize="0"/>
          <p:nvPr/>
        </p:nvPicPr>
        <p:blipFill rotWithShape="1">
          <a:blip r:embed="rId3">
            <a:alphaModFix/>
          </a:blip>
          <a:srcRect/>
          <a:stretch/>
        </p:blipFill>
        <p:spPr>
          <a:xfrm>
            <a:off x="5727192" y="1906010"/>
            <a:ext cx="5943600" cy="3705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3"/>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Results for Q1 — Rental Inventory &amp; Rate</a:t>
            </a:r>
            <a:endParaRPr/>
          </a:p>
        </p:txBody>
      </p:sp>
      <p:pic>
        <p:nvPicPr>
          <p:cNvPr id="265" name="Google Shape;265;p13"/>
          <p:cNvPicPr preferRelativeResize="0"/>
          <p:nvPr/>
        </p:nvPicPr>
        <p:blipFill rotWithShape="1">
          <a:blip r:embed="rId3">
            <a:alphaModFix/>
          </a:blip>
          <a:srcRect/>
          <a:stretch/>
        </p:blipFill>
        <p:spPr>
          <a:xfrm>
            <a:off x="5727192" y="1906010"/>
            <a:ext cx="5943600" cy="3705225"/>
          </a:xfrm>
          <a:prstGeom prst="rect">
            <a:avLst/>
          </a:prstGeom>
          <a:noFill/>
          <a:ln>
            <a:noFill/>
          </a:ln>
        </p:spPr>
      </p:pic>
      <p:pic>
        <p:nvPicPr>
          <p:cNvPr id="266" name="Google Shape;266;p13"/>
          <p:cNvPicPr preferRelativeResize="0"/>
          <p:nvPr/>
        </p:nvPicPr>
        <p:blipFill rotWithShape="1">
          <a:blip r:embed="rId4">
            <a:alphaModFix/>
          </a:blip>
          <a:srcRect/>
          <a:stretch/>
        </p:blipFill>
        <p:spPr>
          <a:xfrm>
            <a:off x="823622" y="2372924"/>
            <a:ext cx="3660165" cy="438089"/>
          </a:xfrm>
          <a:prstGeom prst="rect">
            <a:avLst/>
          </a:prstGeom>
          <a:noFill/>
          <a:ln>
            <a:noFill/>
          </a:ln>
        </p:spPr>
      </p:pic>
      <p:pic>
        <p:nvPicPr>
          <p:cNvPr id="267" name="Google Shape;267;p13"/>
          <p:cNvPicPr preferRelativeResize="0"/>
          <p:nvPr/>
        </p:nvPicPr>
        <p:blipFill rotWithShape="1">
          <a:blip r:embed="rId5">
            <a:alphaModFix/>
          </a:blip>
          <a:srcRect/>
          <a:stretch/>
        </p:blipFill>
        <p:spPr>
          <a:xfrm>
            <a:off x="823622" y="2885317"/>
            <a:ext cx="3984003" cy="2450592"/>
          </a:xfrm>
          <a:prstGeom prst="rect">
            <a:avLst/>
          </a:prstGeom>
          <a:noFill/>
          <a:ln>
            <a:noFill/>
          </a:ln>
        </p:spPr>
      </p:pic>
      <p:sp>
        <p:nvSpPr>
          <p:cNvPr id="268" name="Google Shape;268;p13"/>
          <p:cNvSpPr txBox="1"/>
          <p:nvPr/>
        </p:nvSpPr>
        <p:spPr>
          <a:xfrm>
            <a:off x="703193" y="5321874"/>
            <a:ext cx="609765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Regression equation:</a:t>
            </a:r>
            <a:br>
              <a:rPr lang="en-US" sz="1800" b="0" i="0" u="none" strike="noStrike" cap="none">
                <a:solidFill>
                  <a:schemeClr val="dk1"/>
                </a:solidFill>
                <a:latin typeface="Arial"/>
                <a:ea typeface="Arial"/>
                <a:cs typeface="Arial"/>
                <a:sym typeface="Arial"/>
              </a:rPr>
            </a:br>
            <a:r>
              <a:rPr lang="en-US" sz="1800" b="0" i="0" u="none" strike="noStrike" cap="none">
                <a:solidFill>
                  <a:schemeClr val="dk1"/>
                </a:solidFill>
                <a:latin typeface="Arial"/>
                <a:ea typeface="Arial"/>
                <a:cs typeface="Arial"/>
                <a:sym typeface="Arial"/>
              </a:rPr>
              <a:t>Rental Inventory = 235 + 0.0225 * Policy Rate</a:t>
            </a:r>
            <a:endParaRPr/>
          </a:p>
        </p:txBody>
      </p:sp>
      <p:sp>
        <p:nvSpPr>
          <p:cNvPr id="269" name="Google Shape;269;p13"/>
          <p:cNvSpPr txBox="1"/>
          <p:nvPr/>
        </p:nvSpPr>
        <p:spPr>
          <a:xfrm>
            <a:off x="703193" y="6011431"/>
            <a:ext cx="609765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Coefficient:</a:t>
            </a:r>
            <a:r>
              <a:rPr lang="en-US" sz="1800">
                <a:solidFill>
                  <a:schemeClr val="dk1"/>
                </a:solidFill>
                <a:latin typeface="Arial"/>
                <a:ea typeface="Arial"/>
                <a:cs typeface="Arial"/>
                <a:sym typeface="Arial"/>
              </a:rPr>
              <a:t> ~0.0225 (near zero)</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P-value:</a:t>
            </a:r>
            <a:r>
              <a:rPr lang="en-US" sz="1800">
                <a:solidFill>
                  <a:schemeClr val="dk1"/>
                </a:solidFill>
                <a:latin typeface="Arial"/>
                <a:ea typeface="Arial"/>
                <a:cs typeface="Arial"/>
                <a:sym typeface="Arial"/>
              </a:rPr>
              <a:t> &gt; 0.05 (not statistically significant)</a:t>
            </a:r>
            <a:endParaRPr/>
          </a:p>
        </p:txBody>
      </p:sp>
      <p:sp>
        <p:nvSpPr>
          <p:cNvPr id="270" name="Google Shape;270;p13"/>
          <p:cNvSpPr txBox="1"/>
          <p:nvPr/>
        </p:nvSpPr>
        <p:spPr>
          <a:xfrm>
            <a:off x="5727192" y="5924979"/>
            <a:ext cx="609765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Implication:</a:t>
            </a:r>
            <a:r>
              <a:rPr lang="en-US" sz="1800">
                <a:solidFill>
                  <a:schemeClr val="dk1"/>
                </a:solidFill>
                <a:latin typeface="Arial"/>
                <a:ea typeface="Arial"/>
                <a:cs typeface="Arial"/>
                <a:sym typeface="Arial"/>
              </a:rPr>
              <a:t> No significant relationship in 2026 between rate changes and rental inventory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4"/>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en-US"/>
              <a:t>Secondary Question 1.2 — Lagged Effects on Rental Prices</a:t>
            </a:r>
            <a:br>
              <a:rPr lang="en-US" b="0"/>
            </a:br>
            <a:endParaRPr/>
          </a:p>
        </p:txBody>
      </p:sp>
      <p:sp>
        <p:nvSpPr>
          <p:cNvPr id="276" name="Google Shape;276;p14"/>
          <p:cNvSpPr txBox="1">
            <a:spLocks noGrp="1"/>
          </p:cNvSpPr>
          <p:nvPr>
            <p:ph type="body" idx="1"/>
          </p:nvPr>
        </p:nvSpPr>
        <p:spPr>
          <a:xfrm>
            <a:off x="521208" y="2578608"/>
            <a:ext cx="5084462"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Method:</a:t>
            </a:r>
            <a:r>
              <a:rPr lang="en-US"/>
              <a:t> Cross-correlation analysis</a:t>
            </a:r>
            <a:endParaRPr/>
          </a:p>
          <a:p>
            <a:pPr marL="228600" lvl="0" indent="-228600" algn="l" rtl="0">
              <a:lnSpc>
                <a:spcPct val="110000"/>
              </a:lnSpc>
              <a:spcBef>
                <a:spcPts val="1000"/>
              </a:spcBef>
              <a:spcAft>
                <a:spcPts val="0"/>
              </a:spcAft>
              <a:buClr>
                <a:schemeClr val="dk1"/>
              </a:buClr>
              <a:buSzPts val="1800"/>
              <a:buChar char="•"/>
            </a:pPr>
            <a:r>
              <a:rPr lang="en-US" b="1"/>
              <a:t>Resuts: </a:t>
            </a:r>
            <a:r>
              <a:rPr lang="en-US"/>
              <a:t>Found a 3-6 month delay in rental price response to rate changes</a:t>
            </a:r>
            <a:endParaRPr/>
          </a:p>
          <a:p>
            <a:pPr marL="228600" lvl="0" indent="-228600" algn="l" rtl="0">
              <a:lnSpc>
                <a:spcPct val="110000"/>
              </a:lnSpc>
              <a:spcBef>
                <a:spcPts val="1000"/>
              </a:spcBef>
              <a:spcAft>
                <a:spcPts val="0"/>
              </a:spcAft>
              <a:buClr>
                <a:schemeClr val="dk1"/>
              </a:buClr>
              <a:buSzPts val="1800"/>
              <a:buChar char="•"/>
            </a:pPr>
            <a:r>
              <a:rPr lang="en-US" b="1"/>
              <a:t>Implication:</a:t>
            </a:r>
            <a:r>
              <a:rPr lang="en-US"/>
              <a:t> Interest rate changes influence rental prices with delay</a:t>
            </a:r>
            <a:endParaRPr/>
          </a:p>
          <a:p>
            <a:pPr marL="0" lvl="0" indent="0" algn="l" rtl="0">
              <a:lnSpc>
                <a:spcPct val="110000"/>
              </a:lnSpc>
              <a:spcBef>
                <a:spcPts val="1000"/>
              </a:spcBef>
              <a:spcAft>
                <a:spcPts val="0"/>
              </a:spcAft>
              <a:buClr>
                <a:schemeClr val="dk1"/>
              </a:buClr>
              <a:buSzPts val="1800"/>
              <a:buNone/>
            </a:pPr>
            <a:endParaRPr/>
          </a:p>
        </p:txBody>
      </p:sp>
      <p:pic>
        <p:nvPicPr>
          <p:cNvPr id="277" name="Google Shape;277;p14"/>
          <p:cNvPicPr preferRelativeResize="0"/>
          <p:nvPr/>
        </p:nvPicPr>
        <p:blipFill>
          <a:blip r:embed="rId3">
            <a:alphaModFix/>
          </a:blip>
          <a:stretch>
            <a:fillRect/>
          </a:stretch>
        </p:blipFill>
        <p:spPr>
          <a:xfrm>
            <a:off x="6432170" y="2323773"/>
            <a:ext cx="4591050" cy="3648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5"/>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 Summary — Q1 Findings</a:t>
            </a:r>
            <a:endParaRPr/>
          </a:p>
        </p:txBody>
      </p:sp>
      <p:sp>
        <p:nvSpPr>
          <p:cNvPr id="283" name="Google Shape;283;p15"/>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Short-term interest rate shifts did not significantly predict rental inventory</a:t>
            </a:r>
            <a:endParaRPr/>
          </a:p>
          <a:p>
            <a:pPr marL="228600" lvl="0" indent="-228600" algn="l" rtl="0">
              <a:lnSpc>
                <a:spcPct val="110000"/>
              </a:lnSpc>
              <a:spcBef>
                <a:spcPts val="1000"/>
              </a:spcBef>
              <a:spcAft>
                <a:spcPts val="0"/>
              </a:spcAft>
              <a:buClr>
                <a:schemeClr val="dk1"/>
              </a:buClr>
              <a:buSzPts val="1800"/>
              <a:buChar char="•"/>
            </a:pPr>
            <a:r>
              <a:rPr lang="en-US"/>
              <a:t>Rent prices show delayed response (3-6 months)</a:t>
            </a:r>
            <a:endParaRPr/>
          </a:p>
          <a:p>
            <a:pPr marL="228600" lvl="0" indent="-228600" algn="l" rtl="0">
              <a:lnSpc>
                <a:spcPct val="110000"/>
              </a:lnSpc>
              <a:spcBef>
                <a:spcPts val="1000"/>
              </a:spcBef>
              <a:spcAft>
                <a:spcPts val="0"/>
              </a:spcAft>
              <a:buClr>
                <a:schemeClr val="dk1"/>
              </a:buClr>
              <a:buSzPts val="1800"/>
              <a:buChar char="•"/>
            </a:pPr>
            <a:r>
              <a:rPr lang="en-US"/>
              <a:t>Market driven more by local factors and supply surges</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6"/>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en-US"/>
              <a:t>Research Question 2 — Property Features &amp; Rent Prices</a:t>
            </a:r>
            <a:br>
              <a:rPr lang="en-US" b="0"/>
            </a:br>
            <a:endParaRPr/>
          </a:p>
        </p:txBody>
      </p:sp>
      <p:sp>
        <p:nvSpPr>
          <p:cNvPr id="289" name="Google Shape;289;p16"/>
          <p:cNvSpPr txBox="1">
            <a:spLocks noGrp="1"/>
          </p:cNvSpPr>
          <p:nvPr>
            <p:ph type="body" idx="1"/>
          </p:nvPr>
        </p:nvSpPr>
        <p:spPr>
          <a:xfrm>
            <a:off x="521208" y="2578608"/>
            <a:ext cx="10108692"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Method: </a:t>
            </a:r>
            <a:r>
              <a:rPr lang="en-US"/>
              <a:t>Multiple linear regression</a:t>
            </a:r>
            <a:endParaRPr/>
          </a:p>
          <a:p>
            <a:pPr marL="228600" lvl="0" indent="-228600" algn="l" rtl="0">
              <a:lnSpc>
                <a:spcPct val="110000"/>
              </a:lnSpc>
              <a:spcBef>
                <a:spcPts val="1000"/>
              </a:spcBef>
              <a:spcAft>
                <a:spcPts val="0"/>
              </a:spcAft>
              <a:buClr>
                <a:schemeClr val="dk1"/>
              </a:buClr>
              <a:buSzPts val="1800"/>
              <a:buChar char="•"/>
            </a:pPr>
            <a:r>
              <a:rPr lang="en-US" b="1"/>
              <a:t>Method:</a:t>
            </a:r>
            <a:r>
              <a:rPr lang="en-US"/>
              <a:t> </a:t>
            </a:r>
            <a:r>
              <a:rPr lang="en-US" b="1"/>
              <a:t>Multiple Linear Regression.</a:t>
            </a:r>
            <a:r>
              <a:rPr lang="en-US"/>
              <a:t> final_price ~ final_beds + final_sqft + segment.</a:t>
            </a:r>
            <a:endParaRPr/>
          </a:p>
          <a:p>
            <a:pPr marL="0" lvl="0" indent="0" algn="l" rtl="0">
              <a:lnSpc>
                <a:spcPct val="110000"/>
              </a:lnSpc>
              <a:spcBef>
                <a:spcPts val="1000"/>
              </a:spcBef>
              <a:spcAft>
                <a:spcPts val="0"/>
              </a:spcAft>
              <a:buClr>
                <a:schemeClr val="dk1"/>
              </a:buClr>
              <a:buSzPts val="1800"/>
              <a:buNone/>
            </a:pPr>
            <a:br>
              <a:rPr lang="en-US"/>
            </a:b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7"/>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en-US"/>
              <a:t> Results for Q2 — Property Features &amp; Rent</a:t>
            </a:r>
            <a:br>
              <a:rPr lang="en-US" b="0"/>
            </a:br>
            <a:endParaRPr/>
          </a:p>
        </p:txBody>
      </p:sp>
      <p:sp>
        <p:nvSpPr>
          <p:cNvPr id="295" name="Google Shape;295;p17"/>
          <p:cNvSpPr txBox="1">
            <a:spLocks noGrp="1"/>
          </p:cNvSpPr>
          <p:nvPr>
            <p:ph type="body" idx="1"/>
          </p:nvPr>
        </p:nvSpPr>
        <p:spPr>
          <a:xfrm>
            <a:off x="587883" y="1994639"/>
            <a:ext cx="5879592" cy="893618"/>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1800"/>
              <a:buNone/>
            </a:pPr>
            <a:r>
              <a:rPr lang="en-US" b="1"/>
              <a:t>  Model 2 – The Property Feature Pricing Model</a:t>
            </a:r>
            <a:endParaRPr/>
          </a:p>
          <a:p>
            <a:pPr marL="0" lvl="0" indent="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a:p>
            <a:pPr marL="228600" lvl="0" indent="-114300" algn="l" rtl="0">
              <a:lnSpc>
                <a:spcPct val="110000"/>
              </a:lnSpc>
              <a:spcBef>
                <a:spcPts val="1000"/>
              </a:spcBef>
              <a:spcAft>
                <a:spcPts val="0"/>
              </a:spcAft>
              <a:buClr>
                <a:schemeClr val="dk1"/>
              </a:buClr>
              <a:buSzPts val="1800"/>
              <a:buNone/>
            </a:pPr>
            <a:endParaRPr/>
          </a:p>
        </p:txBody>
      </p:sp>
      <p:pic>
        <p:nvPicPr>
          <p:cNvPr id="296" name="Google Shape;296;p17"/>
          <p:cNvPicPr preferRelativeResize="0"/>
          <p:nvPr/>
        </p:nvPicPr>
        <p:blipFill rotWithShape="1">
          <a:blip r:embed="rId3">
            <a:alphaModFix/>
          </a:blip>
          <a:srcRect/>
          <a:stretch/>
        </p:blipFill>
        <p:spPr>
          <a:xfrm>
            <a:off x="789783" y="2464895"/>
            <a:ext cx="5105400" cy="447675"/>
          </a:xfrm>
          <a:prstGeom prst="rect">
            <a:avLst/>
          </a:prstGeom>
          <a:noFill/>
          <a:ln>
            <a:noFill/>
          </a:ln>
        </p:spPr>
      </p:pic>
      <p:sp>
        <p:nvSpPr>
          <p:cNvPr id="297" name="Google Shape;297;p17"/>
          <p:cNvSpPr txBox="1"/>
          <p:nvPr/>
        </p:nvSpPr>
        <p:spPr>
          <a:xfrm>
            <a:off x="733354" y="3074046"/>
            <a:ext cx="6094268"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Final Price</a:t>
            </a:r>
            <a:r>
              <a:rPr lang="en-US" sz="1800">
                <a:solidFill>
                  <a:schemeClr val="dk1"/>
                </a:solidFill>
                <a:latin typeface="Arial"/>
                <a:ea typeface="Arial"/>
                <a:cs typeface="Arial"/>
                <a:sym typeface="Arial"/>
              </a:rPr>
              <a:t>=650.99876−5.24731×Final Beds+0.01416×Final SqFt+48.78333×SegmentOther+32.14795×SegmentShared+ϵ</a:t>
            </a: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Variables</a:t>
            </a:r>
            <a:r>
              <a:rPr lang="en-US" sz="1800">
                <a:solidFill>
                  <a:schemeClr val="dk1"/>
                </a:solidFill>
                <a:latin typeface="Arial"/>
                <a:ea typeface="Arial"/>
                <a:cs typeface="Arial"/>
                <a:sym typeface="Arial"/>
              </a:rPr>
              <a:t>: number of bedrooms, property size, property type (segment)</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Coefficients:</a:t>
            </a:r>
            <a:endParaRPr sz="1800">
              <a:solidFill>
                <a:schemeClr val="dk1"/>
              </a:solidFill>
              <a:latin typeface="Arial"/>
              <a:ea typeface="Arial"/>
              <a:cs typeface="Arial"/>
              <a:sym typeface="Arial"/>
            </a:endParaRPr>
          </a:p>
          <a:p>
            <a:pPr marL="457200" marR="0" lvl="1" indent="0" algn="l" rtl="0">
              <a:spcBef>
                <a:spcPts val="0"/>
              </a:spcBef>
              <a:spcAft>
                <a:spcPts val="0"/>
              </a:spcAft>
              <a:buNone/>
            </a:pPr>
            <a:r>
              <a:rPr lang="en-US" sz="1800" b="0" i="0" u="none" strike="noStrike" cap="none">
                <a:solidFill>
                  <a:schemeClr val="dk1"/>
                </a:solidFill>
                <a:latin typeface="Arial"/>
                <a:ea typeface="Arial"/>
                <a:cs typeface="Arial"/>
                <a:sym typeface="Arial"/>
              </a:rPr>
              <a:t>Beds: -$5.25 (not significant, p &gt; 0.05)</a:t>
            </a:r>
            <a:endParaRPr/>
          </a:p>
          <a:p>
            <a:pPr marL="457200" marR="0" lvl="1" indent="0" algn="l" rtl="0">
              <a:spcBef>
                <a:spcPts val="0"/>
              </a:spcBef>
              <a:spcAft>
                <a:spcPts val="0"/>
              </a:spcAft>
              <a:buNone/>
            </a:pPr>
            <a:r>
              <a:rPr lang="en-US" sz="1800" b="0" i="0" u="none" strike="noStrike" cap="none">
                <a:solidFill>
                  <a:schemeClr val="dk1"/>
                </a:solidFill>
                <a:latin typeface="Arial"/>
                <a:ea typeface="Arial"/>
                <a:cs typeface="Arial"/>
                <a:sym typeface="Arial"/>
              </a:rPr>
              <a:t>SqFt: +$0.014 (not significant)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Regression coefficients not statistically significant</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Model R-squared:</a:t>
            </a:r>
            <a:r>
              <a:rPr lang="en-US" sz="1800">
                <a:solidFill>
                  <a:schemeClr val="dk1"/>
                </a:solidFill>
                <a:latin typeface="Arial"/>
                <a:ea typeface="Arial"/>
                <a:cs typeface="Arial"/>
                <a:sym typeface="Arial"/>
              </a:rPr>
              <a:t> ~3%, indicating poor fit</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F-test:</a:t>
            </a:r>
            <a:r>
              <a:rPr lang="en-US" sz="1800">
                <a:solidFill>
                  <a:schemeClr val="dk1"/>
                </a:solidFill>
                <a:latin typeface="Arial"/>
                <a:ea typeface="Arial"/>
                <a:cs typeface="Arial"/>
                <a:sym typeface="Arial"/>
              </a:rPr>
              <a:t> p &gt; 0.05, overall model not significant</a:t>
            </a:r>
            <a:endParaRPr/>
          </a:p>
        </p:txBody>
      </p:sp>
      <p:pic>
        <p:nvPicPr>
          <p:cNvPr id="298" name="Google Shape;298;p17"/>
          <p:cNvPicPr preferRelativeResize="0"/>
          <p:nvPr/>
        </p:nvPicPr>
        <p:blipFill rotWithShape="1">
          <a:blip r:embed="rId4">
            <a:alphaModFix/>
          </a:blip>
          <a:srcRect/>
          <a:stretch/>
        </p:blipFill>
        <p:spPr>
          <a:xfrm>
            <a:off x="7039767" y="2010329"/>
            <a:ext cx="4362450" cy="4429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8"/>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en-US"/>
              <a:t>Visual — Boxplots of Rent by Bedrooms &amp; Property Type</a:t>
            </a:r>
            <a:br>
              <a:rPr lang="en-US" b="0"/>
            </a:br>
            <a:endParaRPr/>
          </a:p>
        </p:txBody>
      </p:sp>
      <p:sp>
        <p:nvSpPr>
          <p:cNvPr id="304" name="Google Shape;304;p18"/>
          <p:cNvSpPr txBox="1">
            <a:spLocks noGrp="1"/>
          </p:cNvSpPr>
          <p:nvPr>
            <p:ph type="body" idx="1"/>
          </p:nvPr>
        </p:nvSpPr>
        <p:spPr>
          <a:xfrm>
            <a:off x="521208" y="2578608"/>
            <a:ext cx="4061183"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Median rent increases with number of bedrooms</a:t>
            </a:r>
            <a:endParaRPr/>
          </a:p>
          <a:p>
            <a:pPr marL="228600" lvl="0" indent="-228600" algn="l" rtl="0">
              <a:lnSpc>
                <a:spcPct val="110000"/>
              </a:lnSpc>
              <a:spcBef>
                <a:spcPts val="1000"/>
              </a:spcBef>
              <a:spcAft>
                <a:spcPts val="0"/>
              </a:spcAft>
              <a:buClr>
                <a:schemeClr val="dk1"/>
              </a:buClr>
              <a:buSzPts val="1800"/>
              <a:buChar char="•"/>
            </a:pPr>
            <a:r>
              <a:rPr lang="en-US"/>
              <a:t>Full homes have higher median rent than apartments/shared units</a:t>
            </a:r>
            <a:endParaRPr/>
          </a:p>
          <a:p>
            <a:pPr marL="228600" lvl="0" indent="-114300" algn="l" rtl="0">
              <a:lnSpc>
                <a:spcPct val="110000"/>
              </a:lnSpc>
              <a:spcBef>
                <a:spcPts val="1000"/>
              </a:spcBef>
              <a:spcAft>
                <a:spcPts val="0"/>
              </a:spcAft>
              <a:buClr>
                <a:schemeClr val="dk1"/>
              </a:buClr>
              <a:buSzPts val="1800"/>
              <a:buNone/>
            </a:pPr>
            <a:endParaRPr/>
          </a:p>
        </p:txBody>
      </p:sp>
      <p:pic>
        <p:nvPicPr>
          <p:cNvPr id="305" name="Google Shape;305;p18"/>
          <p:cNvPicPr preferRelativeResize="0"/>
          <p:nvPr/>
        </p:nvPicPr>
        <p:blipFill rotWithShape="1">
          <a:blip r:embed="rId3">
            <a:alphaModFix/>
          </a:blip>
          <a:srcRect/>
          <a:stretch/>
        </p:blipFill>
        <p:spPr>
          <a:xfrm>
            <a:off x="5576454" y="2441448"/>
            <a:ext cx="5943600" cy="3705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9"/>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Figures – Impact of Features &amp; Market Inter-Correlations</a:t>
            </a:r>
            <a:endParaRPr/>
          </a:p>
        </p:txBody>
      </p:sp>
      <p:pic>
        <p:nvPicPr>
          <p:cNvPr id="311" name="Google Shape;311;p19"/>
          <p:cNvPicPr preferRelativeResize="0"/>
          <p:nvPr/>
        </p:nvPicPr>
        <p:blipFill rotWithShape="1">
          <a:blip r:embed="rId3">
            <a:alphaModFix/>
          </a:blip>
          <a:srcRect/>
          <a:stretch/>
        </p:blipFill>
        <p:spPr>
          <a:xfrm>
            <a:off x="6458668" y="3079510"/>
            <a:ext cx="5347206" cy="2913542"/>
          </a:xfrm>
          <a:prstGeom prst="rect">
            <a:avLst/>
          </a:prstGeom>
          <a:noFill/>
          <a:ln>
            <a:noFill/>
          </a:ln>
        </p:spPr>
      </p:pic>
      <p:pic>
        <p:nvPicPr>
          <p:cNvPr id="312" name="Google Shape;312;p19"/>
          <p:cNvPicPr preferRelativeResize="0"/>
          <p:nvPr/>
        </p:nvPicPr>
        <p:blipFill rotWithShape="1">
          <a:blip r:embed="rId4">
            <a:alphaModFix/>
          </a:blip>
          <a:srcRect/>
          <a:stretch/>
        </p:blipFill>
        <p:spPr>
          <a:xfrm>
            <a:off x="173182" y="2991040"/>
            <a:ext cx="6026440" cy="309048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0"/>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Key Takeaway — Q2</a:t>
            </a:r>
            <a:br>
              <a:rPr lang="en-US" b="0"/>
            </a:br>
            <a:endParaRPr/>
          </a:p>
        </p:txBody>
      </p:sp>
      <p:sp>
        <p:nvSpPr>
          <p:cNvPr id="318" name="Google Shape;318;p20"/>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Larger properties and more bedrooms command higher rents</a:t>
            </a:r>
            <a:endParaRPr/>
          </a:p>
          <a:p>
            <a:pPr marL="228600" lvl="0" indent="-228600" algn="l" rtl="0">
              <a:lnSpc>
                <a:spcPct val="110000"/>
              </a:lnSpc>
              <a:spcBef>
                <a:spcPts val="1000"/>
              </a:spcBef>
              <a:spcAft>
                <a:spcPts val="0"/>
              </a:spcAft>
              <a:buClr>
                <a:schemeClr val="dk1"/>
              </a:buClr>
              <a:buSzPts val="1800"/>
              <a:buChar char="•"/>
            </a:pPr>
            <a:r>
              <a:rPr lang="en-US"/>
              <a:t>However, size and bedroom count alone are weak predictors</a:t>
            </a:r>
            <a:endParaRPr/>
          </a:p>
          <a:p>
            <a:pPr marL="228600" lvl="0" indent="-228600" algn="l" rtl="0">
              <a:lnSpc>
                <a:spcPct val="110000"/>
              </a:lnSpc>
              <a:spcBef>
                <a:spcPts val="1000"/>
              </a:spcBef>
              <a:spcAft>
                <a:spcPts val="0"/>
              </a:spcAft>
              <a:buClr>
                <a:schemeClr val="dk1"/>
              </a:buClr>
              <a:buSzPts val="1800"/>
              <a:buChar char="•"/>
            </a:pPr>
            <a:r>
              <a:rPr lang="en-US"/>
              <a:t>Other factors (location, amenities) likely influential</a:t>
            </a:r>
            <a:endParaRPr/>
          </a:p>
          <a:p>
            <a:pPr marL="228600" lvl="0" indent="-228600" algn="l" rtl="0">
              <a:lnSpc>
                <a:spcPct val="110000"/>
              </a:lnSpc>
              <a:spcBef>
                <a:spcPts val="1000"/>
              </a:spcBef>
              <a:spcAft>
                <a:spcPts val="0"/>
              </a:spcAft>
              <a:buClr>
                <a:schemeClr val="dk1"/>
              </a:buClr>
              <a:buSzPts val="1800"/>
              <a:buChar char="•"/>
            </a:pPr>
            <a:r>
              <a:rPr lang="en-US"/>
              <a:t>Model </a:t>
            </a:r>
            <a:endParaRPr/>
          </a:p>
          <a:p>
            <a:pPr marL="685800" lvl="1" indent="-228600" algn="l" rtl="0">
              <a:lnSpc>
                <a:spcPct val="110000"/>
              </a:lnSpc>
              <a:spcBef>
                <a:spcPts val="500"/>
              </a:spcBef>
              <a:spcAft>
                <a:spcPts val="0"/>
              </a:spcAft>
              <a:buClr>
                <a:schemeClr val="dk1"/>
              </a:buClr>
              <a:buSzPts val="1600"/>
              <a:buChar char="•"/>
            </a:pPr>
            <a:r>
              <a:rPr lang="en-US"/>
              <a:t>R-squared: ~3%, indicating limited predictive power</a:t>
            </a:r>
            <a:endParaRPr/>
          </a:p>
          <a:p>
            <a:pPr marL="685800" lvl="1" indent="-228600" algn="l" rtl="0">
              <a:lnSpc>
                <a:spcPct val="110000"/>
              </a:lnSpc>
              <a:spcBef>
                <a:spcPts val="500"/>
              </a:spcBef>
              <a:spcAft>
                <a:spcPts val="0"/>
              </a:spcAft>
              <a:buClr>
                <a:schemeClr val="dk1"/>
              </a:buClr>
              <a:buSzPts val="1600"/>
              <a:buChar char="•"/>
            </a:pPr>
            <a:r>
              <a:rPr lang="en-US"/>
              <a:t>Regression coefficients not statistically significant</a:t>
            </a:r>
            <a:endParaRPr/>
          </a:p>
          <a:p>
            <a:pPr marL="228600" lvl="0" indent="-228600" algn="l" rtl="0">
              <a:lnSpc>
                <a:spcPct val="110000"/>
              </a:lnSpc>
              <a:spcBef>
                <a:spcPts val="1000"/>
              </a:spcBef>
              <a:spcAft>
                <a:spcPts val="0"/>
              </a:spcAft>
              <a:buClr>
                <a:schemeClr val="dk1"/>
              </a:buClr>
              <a:buSzPts val="1800"/>
              <a:buChar char="•"/>
            </a:pPr>
            <a:br>
              <a:rPr lang="en-US"/>
            </a:br>
            <a:br>
              <a:rPr lang="en-US"/>
            </a:b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1"/>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Arial"/>
              <a:buNone/>
            </a:pPr>
            <a:r>
              <a:rPr lang="en-US"/>
              <a:t>Research Question 3 — Landlord Incentives &amp; Market Conditions</a:t>
            </a:r>
            <a:br>
              <a:rPr lang="en-US" b="0"/>
            </a:br>
            <a:endParaRPr/>
          </a:p>
        </p:txBody>
      </p:sp>
      <p:sp>
        <p:nvSpPr>
          <p:cNvPr id="324" name="Google Shape;324;p21"/>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Objective:</a:t>
            </a:r>
            <a:r>
              <a:rPr lang="en-US"/>
              <a:t> To predict incentives based on rent and segment</a:t>
            </a:r>
            <a:endParaRPr b="1"/>
          </a:p>
          <a:p>
            <a:pPr marL="228600" lvl="0" indent="-228600" algn="l" rtl="0">
              <a:lnSpc>
                <a:spcPct val="110000"/>
              </a:lnSpc>
              <a:spcBef>
                <a:spcPts val="1000"/>
              </a:spcBef>
              <a:spcAft>
                <a:spcPts val="0"/>
              </a:spcAft>
              <a:buClr>
                <a:schemeClr val="dk1"/>
              </a:buClr>
              <a:buSzPts val="1800"/>
              <a:buChar char="•"/>
            </a:pPr>
            <a:r>
              <a:rPr lang="en-US" b="1"/>
              <a:t>Method:</a:t>
            </a:r>
            <a:r>
              <a:rPr lang="en-US"/>
              <a:t> </a:t>
            </a:r>
            <a:r>
              <a:rPr lang="en-US" b="1"/>
              <a:t>Logistic Regression</a:t>
            </a:r>
            <a:r>
              <a:rPr lang="en-US"/>
              <a:t> (Binary outcome: Incentive vs. No Incentive)</a:t>
            </a:r>
            <a:endParaRPr b="1"/>
          </a:p>
          <a:p>
            <a:pPr marL="228600" lvl="0" indent="-228600" algn="l" rtl="0">
              <a:lnSpc>
                <a:spcPct val="110000"/>
              </a:lnSpc>
              <a:spcBef>
                <a:spcPts val="1000"/>
              </a:spcBef>
              <a:spcAft>
                <a:spcPts val="0"/>
              </a:spcAft>
              <a:buClr>
                <a:schemeClr val="dk1"/>
              </a:buClr>
              <a:buSzPts val="1800"/>
              <a:buChar char="•"/>
            </a:pPr>
            <a:r>
              <a:rPr lang="en-US"/>
              <a:t>Variables: rent price, property segment</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386b59435a4_3_0"/>
          <p:cNvSpPr txBox="1">
            <a:spLocks noGrp="1"/>
          </p:cNvSpPr>
          <p:nvPr>
            <p:ph type="title"/>
          </p:nvPr>
        </p:nvSpPr>
        <p:spPr>
          <a:xfrm>
            <a:off x="521208" y="978408"/>
            <a:ext cx="11155800" cy="14631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99000"/>
              <a:buFont typeface="Arial"/>
              <a:buNone/>
            </a:pPr>
            <a:r>
              <a:rPr lang="en-US" sz="4444"/>
              <a:t>Results for Q3 — Landlord Incentives &amp; Market Conditions</a:t>
            </a:r>
            <a:br>
              <a:rPr lang="en-US" sz="4444" b="0"/>
            </a:br>
            <a:br>
              <a:rPr lang="en-US" b="0"/>
            </a:br>
            <a:r>
              <a:rPr lang="en-US" sz="2400" b="0"/>
              <a:t>The logistic regression model did not work.</a:t>
            </a:r>
            <a:endParaRPr sz="2400"/>
          </a:p>
        </p:txBody>
      </p:sp>
      <p:pic>
        <p:nvPicPr>
          <p:cNvPr id="330" name="Google Shape;330;g386b59435a4_3_0" title="Screenshot 2026-02-26 003632.png"/>
          <p:cNvPicPr preferRelativeResize="0"/>
          <p:nvPr/>
        </p:nvPicPr>
        <p:blipFill>
          <a:blip r:embed="rId3">
            <a:alphaModFix/>
          </a:blip>
          <a:stretch>
            <a:fillRect/>
          </a:stretch>
        </p:blipFill>
        <p:spPr>
          <a:xfrm>
            <a:off x="1614000" y="3583183"/>
            <a:ext cx="7372350" cy="2095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g386b59435a4_3_9"/>
          <p:cNvSpPr txBox="1">
            <a:spLocks noGrp="1"/>
          </p:cNvSpPr>
          <p:nvPr>
            <p:ph type="title"/>
          </p:nvPr>
        </p:nvSpPr>
        <p:spPr>
          <a:xfrm>
            <a:off x="521208" y="978408"/>
            <a:ext cx="11155800" cy="1463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sz="4000" dirty="0"/>
              <a:t>Research Question 3 — Cost of additional Sq. ft. vs Property Type</a:t>
            </a:r>
            <a:endParaRPr sz="4000" dirty="0"/>
          </a:p>
        </p:txBody>
      </p:sp>
      <p:sp>
        <p:nvSpPr>
          <p:cNvPr id="336" name="Google Shape;336;g386b59435a4_3_9"/>
          <p:cNvSpPr txBox="1">
            <a:spLocks noGrp="1"/>
          </p:cNvSpPr>
          <p:nvPr>
            <p:ph type="body" idx="1"/>
          </p:nvPr>
        </p:nvSpPr>
        <p:spPr>
          <a:xfrm>
            <a:off x="423183" y="2569683"/>
            <a:ext cx="11155800" cy="37674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Objective:</a:t>
            </a:r>
            <a:r>
              <a:rPr lang="en-US"/>
              <a:t> Is it more expensive to have a bigger house vs condo/apartment</a:t>
            </a:r>
            <a:endParaRPr b="1"/>
          </a:p>
          <a:p>
            <a:pPr marL="228600" lvl="0" indent="-228600" algn="l" rtl="0">
              <a:lnSpc>
                <a:spcPct val="110000"/>
              </a:lnSpc>
              <a:spcBef>
                <a:spcPts val="1000"/>
              </a:spcBef>
              <a:spcAft>
                <a:spcPts val="0"/>
              </a:spcAft>
              <a:buClr>
                <a:schemeClr val="dk1"/>
              </a:buClr>
              <a:buSzPts val="1800"/>
              <a:buChar char="•"/>
            </a:pPr>
            <a:r>
              <a:rPr lang="en-US" b="1"/>
              <a:t>Linear Regression (Interaction terms):</a:t>
            </a:r>
            <a:r>
              <a:rPr lang="en-US"/>
              <a:t> (final_price ~ final_sqft * segment)</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386b59435a4_3_25"/>
          <p:cNvSpPr txBox="1">
            <a:spLocks noGrp="1"/>
          </p:cNvSpPr>
          <p:nvPr>
            <p:ph type="title"/>
          </p:nvPr>
        </p:nvSpPr>
        <p:spPr>
          <a:xfrm>
            <a:off x="521208" y="978408"/>
            <a:ext cx="11155800" cy="1463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sz="4000" dirty="0"/>
              <a:t>Research Question 3 — Cost of additional Sq. ft. vs Property Type</a:t>
            </a:r>
            <a:endParaRPr sz="4000" dirty="0"/>
          </a:p>
        </p:txBody>
      </p:sp>
      <p:sp>
        <p:nvSpPr>
          <p:cNvPr id="342" name="Google Shape;342;g386b59435a4_3_25"/>
          <p:cNvSpPr txBox="1">
            <a:spLocks noGrp="1"/>
          </p:cNvSpPr>
          <p:nvPr>
            <p:ph type="body" idx="1"/>
          </p:nvPr>
        </p:nvSpPr>
        <p:spPr>
          <a:xfrm>
            <a:off x="423175" y="2569675"/>
            <a:ext cx="4585500" cy="3767400"/>
          </a:xfrm>
          <a:prstGeom prst="rect">
            <a:avLst/>
          </a:prstGeom>
          <a:noFill/>
          <a:ln>
            <a:noFill/>
          </a:ln>
        </p:spPr>
        <p:txBody>
          <a:bodyPr spcFirstLastPara="1" wrap="square" lIns="91425" tIns="45700" rIns="91425" bIns="45700" anchor="t" anchorCtr="0">
            <a:normAutofit/>
          </a:bodyPr>
          <a:lstStyle/>
          <a:p>
            <a:pPr marL="228600" lvl="0" indent="-114300" algn="l" rtl="0">
              <a:lnSpc>
                <a:spcPct val="110000"/>
              </a:lnSpc>
              <a:spcBef>
                <a:spcPts val="1000"/>
              </a:spcBef>
              <a:spcAft>
                <a:spcPts val="0"/>
              </a:spcAft>
              <a:buClr>
                <a:schemeClr val="dk1"/>
              </a:buClr>
              <a:buSzPts val="1800"/>
              <a:buNone/>
            </a:pPr>
            <a:r>
              <a:rPr lang="en-US"/>
              <a:t>Model interpretation:</a:t>
            </a:r>
            <a:endParaRPr/>
          </a:p>
          <a:p>
            <a:pPr marL="457200" lvl="0" indent="-342900" algn="l" rtl="0">
              <a:lnSpc>
                <a:spcPct val="110000"/>
              </a:lnSpc>
              <a:spcBef>
                <a:spcPts val="1000"/>
              </a:spcBef>
              <a:spcAft>
                <a:spcPts val="0"/>
              </a:spcAft>
              <a:buSzPts val="1800"/>
              <a:buChar char="•"/>
            </a:pPr>
            <a:r>
              <a:rPr lang="en-US"/>
              <a:t>Explains roughly 52% variance.</a:t>
            </a:r>
            <a:endParaRPr/>
          </a:p>
          <a:p>
            <a:pPr marL="457200" lvl="0" indent="-342900" algn="l" rtl="0">
              <a:lnSpc>
                <a:spcPct val="110000"/>
              </a:lnSpc>
              <a:spcBef>
                <a:spcPts val="0"/>
              </a:spcBef>
              <a:spcAft>
                <a:spcPts val="0"/>
              </a:spcAft>
              <a:buSzPts val="1800"/>
              <a:buChar char="•"/>
            </a:pPr>
            <a:r>
              <a:rPr lang="en-US"/>
              <a:t>Statistically significant(p-value &lt; 0.05)</a:t>
            </a:r>
            <a:endParaRPr/>
          </a:p>
          <a:p>
            <a:pPr marL="457200" lvl="0" indent="-342900" algn="l" rtl="0">
              <a:lnSpc>
                <a:spcPct val="110000"/>
              </a:lnSpc>
              <a:spcBef>
                <a:spcPts val="0"/>
              </a:spcBef>
              <a:spcAft>
                <a:spcPts val="0"/>
              </a:spcAft>
              <a:buSzPts val="1800"/>
              <a:buChar char="•"/>
            </a:pPr>
            <a:r>
              <a:rPr lang="en-US"/>
              <a:t>Starting price: Homes $231.41 higher than apt/condo.</a:t>
            </a:r>
            <a:endParaRPr/>
          </a:p>
          <a:p>
            <a:pPr marL="457200" lvl="0" indent="-342900" algn="l" rtl="0">
              <a:lnSpc>
                <a:spcPct val="110000"/>
              </a:lnSpc>
              <a:spcBef>
                <a:spcPts val="0"/>
              </a:spcBef>
              <a:spcAft>
                <a:spcPts val="0"/>
              </a:spcAft>
              <a:buSzPts val="1800"/>
              <a:buChar char="•"/>
            </a:pPr>
            <a:r>
              <a:rPr lang="en-US"/>
              <a:t>Interaction terms:</a:t>
            </a:r>
            <a:endParaRPr/>
          </a:p>
          <a:p>
            <a:pPr marL="914400" lvl="1" indent="-342900" algn="l" rtl="0">
              <a:lnSpc>
                <a:spcPct val="110000"/>
              </a:lnSpc>
              <a:spcBef>
                <a:spcPts val="0"/>
              </a:spcBef>
              <a:spcAft>
                <a:spcPts val="0"/>
              </a:spcAft>
              <a:buSzPts val="1800"/>
              <a:buChar char="•"/>
            </a:pPr>
            <a:r>
              <a:rPr lang="en-US"/>
              <a:t>sq ft. doesn’t affect shared rooms pricing.</a:t>
            </a:r>
            <a:endParaRPr/>
          </a:p>
          <a:p>
            <a:pPr marL="914400" lvl="1" indent="-342900" algn="l" rtl="0">
              <a:lnSpc>
                <a:spcPct val="110000"/>
              </a:lnSpc>
              <a:spcBef>
                <a:spcPts val="0"/>
              </a:spcBef>
              <a:spcAft>
                <a:spcPts val="0"/>
              </a:spcAft>
              <a:buSzPts val="1800"/>
              <a:buChar char="•"/>
            </a:pPr>
            <a:r>
              <a:rPr lang="en-US"/>
              <a:t>Price per Sq. Ft. is lower for the ‘other category’</a:t>
            </a:r>
            <a:endParaRPr/>
          </a:p>
          <a:p>
            <a:pPr marL="914400" lvl="1" indent="-342900" algn="l" rtl="0">
              <a:lnSpc>
                <a:spcPct val="110000"/>
              </a:lnSpc>
              <a:spcBef>
                <a:spcPts val="0"/>
              </a:spcBef>
              <a:spcAft>
                <a:spcPts val="0"/>
              </a:spcAft>
              <a:buSzPts val="1800"/>
              <a:buChar char="•"/>
            </a:pPr>
            <a:r>
              <a:rPr lang="en-US"/>
              <a:t>Only flat fee premium for homes vs apt/condo </a:t>
            </a:r>
            <a:endParaRPr/>
          </a:p>
        </p:txBody>
      </p:sp>
      <p:pic>
        <p:nvPicPr>
          <p:cNvPr id="343" name="Google Shape;343;g386b59435a4_3_25" title="Screenshot 2026-02-26 005048.png"/>
          <p:cNvPicPr preferRelativeResize="0"/>
          <p:nvPr/>
        </p:nvPicPr>
        <p:blipFill>
          <a:blip r:embed="rId3">
            <a:alphaModFix/>
          </a:blip>
          <a:stretch>
            <a:fillRect/>
          </a:stretch>
        </p:blipFill>
        <p:spPr>
          <a:xfrm>
            <a:off x="5062175" y="2569675"/>
            <a:ext cx="6712876" cy="3767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386b59435a4_3_31"/>
          <p:cNvSpPr txBox="1">
            <a:spLocks noGrp="1"/>
          </p:cNvSpPr>
          <p:nvPr>
            <p:ph type="title"/>
          </p:nvPr>
        </p:nvSpPr>
        <p:spPr>
          <a:xfrm>
            <a:off x="521208" y="978408"/>
            <a:ext cx="11155800" cy="1463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sz="4000" dirty="0"/>
              <a:t>Research Question 3 — Cost of additional Sq. ft. vs Property Type</a:t>
            </a:r>
            <a:endParaRPr sz="4000" dirty="0"/>
          </a:p>
        </p:txBody>
      </p:sp>
      <p:sp>
        <p:nvSpPr>
          <p:cNvPr id="349" name="Google Shape;349;g386b59435a4_3_31"/>
          <p:cNvSpPr txBox="1">
            <a:spLocks noGrp="1"/>
          </p:cNvSpPr>
          <p:nvPr>
            <p:ph type="body" idx="1"/>
          </p:nvPr>
        </p:nvSpPr>
        <p:spPr>
          <a:xfrm>
            <a:off x="423180" y="2569675"/>
            <a:ext cx="4246800" cy="3767400"/>
          </a:xfrm>
          <a:prstGeom prst="rect">
            <a:avLst/>
          </a:prstGeom>
          <a:noFill/>
          <a:ln>
            <a:noFill/>
          </a:ln>
        </p:spPr>
        <p:txBody>
          <a:bodyPr spcFirstLastPara="1" wrap="square" lIns="91425" tIns="45700" rIns="91425" bIns="45700" anchor="t" anchorCtr="0">
            <a:normAutofit/>
          </a:bodyPr>
          <a:lstStyle/>
          <a:p>
            <a:pPr marL="228600" lvl="0" indent="-114300" algn="l" rtl="0">
              <a:lnSpc>
                <a:spcPct val="110000"/>
              </a:lnSpc>
              <a:spcBef>
                <a:spcPts val="1000"/>
              </a:spcBef>
              <a:spcAft>
                <a:spcPts val="0"/>
              </a:spcAft>
              <a:buClr>
                <a:schemeClr val="dk1"/>
              </a:buClr>
              <a:buSzPts val="1800"/>
              <a:buNone/>
            </a:pPr>
            <a:r>
              <a:rPr lang="en-US"/>
              <a:t>Key Observations:</a:t>
            </a:r>
            <a:endParaRPr/>
          </a:p>
          <a:p>
            <a:pPr marL="457200" lvl="0" indent="-342900" algn="l" rtl="0">
              <a:lnSpc>
                <a:spcPct val="110000"/>
              </a:lnSpc>
              <a:spcBef>
                <a:spcPts val="1000"/>
              </a:spcBef>
              <a:spcAft>
                <a:spcPts val="0"/>
              </a:spcAft>
              <a:buSzPts val="1800"/>
              <a:buChar char="•"/>
            </a:pPr>
            <a:r>
              <a:rPr lang="en-US"/>
              <a:t>Shared accommodation is predictable.</a:t>
            </a:r>
            <a:endParaRPr/>
          </a:p>
          <a:p>
            <a:pPr marL="457200" lvl="0" indent="-342900" algn="l" rtl="0">
              <a:lnSpc>
                <a:spcPct val="110000"/>
              </a:lnSpc>
              <a:spcBef>
                <a:spcPts val="0"/>
              </a:spcBef>
              <a:spcAft>
                <a:spcPts val="0"/>
              </a:spcAft>
              <a:buSzPts val="1800"/>
              <a:buChar char="•"/>
            </a:pPr>
            <a:r>
              <a:rPr lang="en-US"/>
              <a:t>Apt/Condo - follow closely between 1-2k, model seems reliable here</a:t>
            </a:r>
            <a:endParaRPr/>
          </a:p>
          <a:p>
            <a:pPr marL="457200" lvl="0" indent="-342900" algn="l" rtl="0">
              <a:lnSpc>
                <a:spcPct val="110000"/>
              </a:lnSpc>
              <a:spcBef>
                <a:spcPts val="0"/>
              </a:spcBef>
              <a:spcAft>
                <a:spcPts val="0"/>
              </a:spcAft>
              <a:buSzPts val="1800"/>
              <a:buChar char="•"/>
            </a:pPr>
            <a:r>
              <a:rPr lang="en-US"/>
              <a:t>Homes: Heteroscedasticity -  harder to predict with Sq Ft alone as they get expensive.</a:t>
            </a:r>
            <a:endParaRPr/>
          </a:p>
          <a:p>
            <a:pPr marL="457200" lvl="0" indent="-342900" algn="l" rtl="0">
              <a:lnSpc>
                <a:spcPct val="110000"/>
              </a:lnSpc>
              <a:spcBef>
                <a:spcPts val="0"/>
              </a:spcBef>
              <a:spcAft>
                <a:spcPts val="0"/>
              </a:spcAft>
              <a:buSzPts val="1800"/>
              <a:buChar char="•"/>
            </a:pPr>
            <a:r>
              <a:rPr lang="en-US"/>
              <a:t>Outliers: </a:t>
            </a:r>
            <a:endParaRPr/>
          </a:p>
          <a:p>
            <a:pPr marL="914400" lvl="1" indent="-342900" algn="l" rtl="0">
              <a:lnSpc>
                <a:spcPct val="110000"/>
              </a:lnSpc>
              <a:spcBef>
                <a:spcPts val="0"/>
              </a:spcBef>
              <a:spcAft>
                <a:spcPts val="0"/>
              </a:spcAft>
              <a:buSzPts val="1800"/>
              <a:buChar char="•"/>
            </a:pPr>
            <a:r>
              <a:rPr lang="en-US"/>
              <a:t>Luxury?</a:t>
            </a:r>
            <a:endParaRPr/>
          </a:p>
        </p:txBody>
      </p:sp>
      <p:pic>
        <p:nvPicPr>
          <p:cNvPr id="350" name="Google Shape;350;g386b59435a4_3_31" title="Screenshot 2026-02-26 011018.png"/>
          <p:cNvPicPr preferRelativeResize="0"/>
          <p:nvPr/>
        </p:nvPicPr>
        <p:blipFill>
          <a:blip r:embed="rId3">
            <a:alphaModFix/>
          </a:blip>
          <a:stretch>
            <a:fillRect/>
          </a:stretch>
        </p:blipFill>
        <p:spPr>
          <a:xfrm>
            <a:off x="5214530" y="2353283"/>
            <a:ext cx="6657975" cy="4105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386b59435a4_3_38"/>
          <p:cNvSpPr txBox="1">
            <a:spLocks noGrp="1"/>
          </p:cNvSpPr>
          <p:nvPr>
            <p:ph type="title"/>
          </p:nvPr>
        </p:nvSpPr>
        <p:spPr>
          <a:xfrm>
            <a:off x="521208" y="978408"/>
            <a:ext cx="11155800" cy="1463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sz="4000" dirty="0"/>
              <a:t>Research Question 3 — Cost of additional Sq. ft. vs Property Type</a:t>
            </a:r>
            <a:endParaRPr sz="4000" dirty="0"/>
          </a:p>
        </p:txBody>
      </p:sp>
      <p:sp>
        <p:nvSpPr>
          <p:cNvPr id="356" name="Google Shape;356;g386b59435a4_3_38"/>
          <p:cNvSpPr txBox="1">
            <a:spLocks noGrp="1"/>
          </p:cNvSpPr>
          <p:nvPr>
            <p:ph type="body" idx="1"/>
          </p:nvPr>
        </p:nvSpPr>
        <p:spPr>
          <a:xfrm>
            <a:off x="423180" y="2569675"/>
            <a:ext cx="4246800" cy="3767400"/>
          </a:xfrm>
          <a:prstGeom prst="rect">
            <a:avLst/>
          </a:prstGeom>
          <a:noFill/>
          <a:ln>
            <a:noFill/>
          </a:ln>
        </p:spPr>
        <p:txBody>
          <a:bodyPr spcFirstLastPara="1" wrap="square" lIns="91425" tIns="45700" rIns="91425" bIns="45700" anchor="t" anchorCtr="0">
            <a:normAutofit/>
          </a:bodyPr>
          <a:lstStyle/>
          <a:p>
            <a:pPr marL="228600" lvl="0" indent="-114300" algn="l" rtl="0">
              <a:lnSpc>
                <a:spcPct val="110000"/>
              </a:lnSpc>
              <a:spcBef>
                <a:spcPts val="1000"/>
              </a:spcBef>
              <a:spcAft>
                <a:spcPts val="0"/>
              </a:spcAft>
              <a:buClr>
                <a:schemeClr val="dk1"/>
              </a:buClr>
              <a:buSzPts val="1800"/>
              <a:buNone/>
            </a:pPr>
            <a:r>
              <a:rPr lang="en-US"/>
              <a:t>Key Observations:</a:t>
            </a:r>
            <a:endParaRPr/>
          </a:p>
          <a:p>
            <a:pPr marL="457200" lvl="0" indent="-342900" algn="l" rtl="0">
              <a:lnSpc>
                <a:spcPct val="110000"/>
              </a:lnSpc>
              <a:spcBef>
                <a:spcPts val="1000"/>
              </a:spcBef>
              <a:spcAft>
                <a:spcPts val="0"/>
              </a:spcAft>
              <a:buSzPts val="1800"/>
              <a:buChar char="•"/>
            </a:pPr>
            <a:r>
              <a:rPr lang="en-US"/>
              <a:t>108 outliers.</a:t>
            </a:r>
            <a:endParaRPr/>
          </a:p>
          <a:p>
            <a:pPr marL="457200" lvl="0" indent="-342900" algn="l" rtl="0">
              <a:lnSpc>
                <a:spcPct val="110000"/>
              </a:lnSpc>
              <a:spcBef>
                <a:spcPts val="0"/>
              </a:spcBef>
              <a:spcAft>
                <a:spcPts val="0"/>
              </a:spcAft>
              <a:buSzPts val="1800"/>
              <a:buChar char="•"/>
            </a:pPr>
            <a:r>
              <a:rPr lang="en-US"/>
              <a:t>min price: $2,599.</a:t>
            </a:r>
            <a:endParaRPr/>
          </a:p>
          <a:p>
            <a:pPr marL="457200" lvl="0" indent="-342900" algn="l" rtl="0">
              <a:lnSpc>
                <a:spcPct val="110000"/>
              </a:lnSpc>
              <a:spcBef>
                <a:spcPts val="0"/>
              </a:spcBef>
              <a:spcAft>
                <a:spcPts val="0"/>
              </a:spcAft>
              <a:buSzPts val="1800"/>
              <a:buChar char="•"/>
            </a:pPr>
            <a:r>
              <a:rPr lang="en-US"/>
              <a:t>Medium price $3,300.</a:t>
            </a:r>
            <a:endParaRPr/>
          </a:p>
          <a:p>
            <a:pPr marL="457200" lvl="0" indent="-342900" algn="l" rtl="0">
              <a:lnSpc>
                <a:spcPct val="110000"/>
              </a:lnSpc>
              <a:spcBef>
                <a:spcPts val="0"/>
              </a:spcBef>
              <a:spcAft>
                <a:spcPts val="0"/>
              </a:spcAft>
              <a:buSzPts val="1800"/>
              <a:buChar char="•"/>
            </a:pPr>
            <a:r>
              <a:rPr lang="en-US"/>
              <a:t>Max price $4,075.</a:t>
            </a:r>
            <a:endParaRPr/>
          </a:p>
        </p:txBody>
      </p:sp>
      <p:pic>
        <p:nvPicPr>
          <p:cNvPr id="357" name="Google Shape;357;g386b59435a4_3_38" title="Screenshot 2026-02-26 013914.png"/>
          <p:cNvPicPr preferRelativeResize="0"/>
          <p:nvPr/>
        </p:nvPicPr>
        <p:blipFill>
          <a:blip r:embed="rId3">
            <a:alphaModFix/>
          </a:blip>
          <a:stretch>
            <a:fillRect/>
          </a:stretch>
        </p:blipFill>
        <p:spPr>
          <a:xfrm>
            <a:off x="4822380" y="2593908"/>
            <a:ext cx="6648450" cy="4086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4"/>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Summary — Q3</a:t>
            </a:r>
            <a:endParaRPr/>
          </a:p>
        </p:txBody>
      </p:sp>
      <p:sp>
        <p:nvSpPr>
          <p:cNvPr id="363" name="Google Shape;363;p24"/>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Sq. Ft. is a statistically significant predictor.</a:t>
            </a:r>
            <a:endParaRPr/>
          </a:p>
          <a:p>
            <a:pPr marL="228600" lvl="0" indent="-228600" algn="l" rtl="0">
              <a:lnSpc>
                <a:spcPct val="110000"/>
              </a:lnSpc>
              <a:spcBef>
                <a:spcPts val="0"/>
              </a:spcBef>
              <a:spcAft>
                <a:spcPts val="0"/>
              </a:spcAft>
              <a:buSzPts val="1800"/>
              <a:buChar char="•"/>
            </a:pPr>
            <a:r>
              <a:rPr lang="en-US"/>
              <a:t>Full homes consistent with $231 premium regardless of Sq. Ft. compared to Apartments</a:t>
            </a:r>
            <a:endParaRPr/>
          </a:p>
          <a:p>
            <a:pPr marL="228600" lvl="0" indent="-228600" algn="l" rtl="0">
              <a:lnSpc>
                <a:spcPct val="110000"/>
              </a:lnSpc>
              <a:spcBef>
                <a:spcPts val="1000"/>
              </a:spcBef>
              <a:spcAft>
                <a:spcPts val="0"/>
              </a:spcAft>
              <a:buClr>
                <a:schemeClr val="dk1"/>
              </a:buClr>
              <a:buSzPts val="1800"/>
              <a:buChar char="•"/>
            </a:pPr>
            <a:r>
              <a:rPr lang="en-US"/>
              <a:t>The Heteroscedasticity problem: As properties get more expensive, the model becomes less accurate. </a:t>
            </a:r>
            <a:endParaRPr/>
          </a:p>
          <a:p>
            <a:pPr marL="228600" lvl="0" indent="-228600" algn="l" rtl="0">
              <a:lnSpc>
                <a:spcPct val="110000"/>
              </a:lnSpc>
              <a:spcBef>
                <a:spcPts val="1000"/>
              </a:spcBef>
              <a:spcAft>
                <a:spcPts val="0"/>
              </a:spcAft>
              <a:buClr>
                <a:schemeClr val="dk1"/>
              </a:buClr>
              <a:buSzPts val="1800"/>
              <a:buChar char="•"/>
            </a:pPr>
            <a:r>
              <a:rPr lang="en-US"/>
              <a:t>The Prestige tier: 108 outliers of very expensive properties. </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5"/>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Overall Market Insights</a:t>
            </a:r>
            <a:br>
              <a:rPr lang="en-US" b="0"/>
            </a:br>
            <a:endParaRPr/>
          </a:p>
        </p:txBody>
      </p:sp>
      <p:sp>
        <p:nvSpPr>
          <p:cNvPr id="387" name="Google Shape;387;p25"/>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b="1"/>
              <a:t>Segment Sensitivity:</a:t>
            </a:r>
            <a:r>
              <a:rPr lang="en-US"/>
              <a:t> Full homes more volatile; shared units stable</a:t>
            </a:r>
            <a:endParaRPr/>
          </a:p>
          <a:p>
            <a:pPr marL="228600" lvl="0" indent="-228600" algn="l" rtl="0">
              <a:lnSpc>
                <a:spcPct val="110000"/>
              </a:lnSpc>
              <a:spcBef>
                <a:spcPts val="1000"/>
              </a:spcBef>
              <a:spcAft>
                <a:spcPts val="0"/>
              </a:spcAft>
              <a:buClr>
                <a:schemeClr val="dk1"/>
              </a:buClr>
              <a:buSzPts val="1800"/>
              <a:buChar char="•"/>
            </a:pPr>
            <a:r>
              <a:rPr lang="en-US" b="1"/>
              <a:t>Lag Effect:</a:t>
            </a:r>
            <a:r>
              <a:rPr lang="en-US"/>
              <a:t> Rent prices respond after 3-6 months to rate changes</a:t>
            </a:r>
            <a:endParaRPr/>
          </a:p>
          <a:p>
            <a:pPr marL="228600" lvl="0" indent="-228600" algn="l" rtl="0">
              <a:lnSpc>
                <a:spcPct val="110000"/>
              </a:lnSpc>
              <a:spcBef>
                <a:spcPts val="1000"/>
              </a:spcBef>
              <a:spcAft>
                <a:spcPts val="0"/>
              </a:spcAft>
              <a:buClr>
                <a:schemeClr val="dk1"/>
              </a:buClr>
              <a:buSzPts val="1800"/>
              <a:buChar char="•"/>
            </a:pPr>
            <a:r>
              <a:rPr lang="en-US" b="1"/>
              <a:t>Market Drivers:</a:t>
            </a:r>
            <a:r>
              <a:rPr lang="en-US"/>
              <a:t> Supply surge, property size, and segment preferences dominate</a:t>
            </a:r>
            <a:endParaRPr/>
          </a:p>
          <a:p>
            <a:pPr marL="228600" lvl="0" indent="-228600" algn="l" rtl="0">
              <a:lnSpc>
                <a:spcPct val="110000"/>
              </a:lnSpc>
              <a:spcBef>
                <a:spcPts val="1000"/>
              </a:spcBef>
              <a:spcAft>
                <a:spcPts val="0"/>
              </a:spcAft>
              <a:buClr>
                <a:schemeClr val="dk1"/>
              </a:buClr>
              <a:buSzPts val="1800"/>
              <a:buChar char="•"/>
            </a:pPr>
            <a:r>
              <a:rPr lang="en-US" b="1"/>
              <a:t>Policy Implication:</a:t>
            </a:r>
            <a:r>
              <a:rPr lang="en-US"/>
              <a:t> Focus on increasing family-sized units and understanding delayed effects</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6"/>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Limitations of the Study</a:t>
            </a:r>
            <a:br>
              <a:rPr lang="en-US" b="0"/>
            </a:br>
            <a:endParaRPr/>
          </a:p>
        </p:txBody>
      </p:sp>
      <p:sp>
        <p:nvSpPr>
          <p:cNvPr id="393" name="Google Shape;393;p26"/>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dirty="0"/>
              <a:t>External factors: migration, utility prices</a:t>
            </a:r>
            <a:endParaRPr dirty="0"/>
          </a:p>
          <a:p>
            <a:pPr marL="228600" lvl="0" indent="-228600" algn="l" rtl="0">
              <a:lnSpc>
                <a:spcPct val="110000"/>
              </a:lnSpc>
              <a:spcBef>
                <a:spcPts val="1000"/>
              </a:spcBef>
              <a:spcAft>
                <a:spcPts val="0"/>
              </a:spcAft>
              <a:buClr>
                <a:schemeClr val="dk1"/>
              </a:buClr>
              <a:buSzPts val="1800"/>
              <a:buChar char="•"/>
            </a:pPr>
            <a:r>
              <a:rPr lang="en-US" dirty="0"/>
              <a:t>Model assumptions: normality, multicollinearity</a:t>
            </a:r>
            <a:endParaRPr dirty="0"/>
          </a:p>
          <a:p>
            <a:pPr marL="228600" lvl="0" indent="-228600" algn="l" rtl="0">
              <a:lnSpc>
                <a:spcPct val="110000"/>
              </a:lnSpc>
              <a:spcBef>
                <a:spcPts val="1000"/>
              </a:spcBef>
              <a:spcAft>
                <a:spcPts val="0"/>
              </a:spcAft>
              <a:buClr>
                <a:schemeClr val="dk1"/>
              </a:buClr>
              <a:buSzPts val="1800"/>
              <a:buChar char="•"/>
            </a:pPr>
            <a:r>
              <a:rPr lang="en-US" dirty="0"/>
              <a:t>Snapshot data: limited to 2026, not longitudinal trends</a:t>
            </a:r>
            <a:endParaRPr dirty="0"/>
          </a:p>
          <a:p>
            <a:pPr marL="228600" lvl="0" indent="-228600" algn="l" rtl="0">
              <a:lnSpc>
                <a:spcPct val="110000"/>
              </a:lnSpc>
              <a:spcBef>
                <a:spcPts val="1000"/>
              </a:spcBef>
              <a:spcAft>
                <a:spcPts val="0"/>
              </a:spcAft>
              <a:buClr>
                <a:schemeClr val="dk1"/>
              </a:buClr>
              <a:buSzPts val="1800"/>
              <a:buChar char="•"/>
            </a:pPr>
            <a:r>
              <a:rPr lang="en-US" dirty="0"/>
              <a:t>Need for neighborhood-specific analyses</a:t>
            </a:r>
            <a:endParaRPr dirty="0"/>
          </a:p>
          <a:p>
            <a:pPr marL="228600" lvl="0" indent="-114300" algn="l" rtl="0">
              <a:lnSpc>
                <a:spcPct val="110000"/>
              </a:lnSpc>
              <a:spcBef>
                <a:spcPts val="1000"/>
              </a:spcBef>
              <a:spcAft>
                <a:spcPts val="0"/>
              </a:spcAft>
              <a:buClr>
                <a:schemeClr val="dk1"/>
              </a:buClr>
              <a:buSzPts val="1800"/>
              <a:buNone/>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27"/>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Conclusions</a:t>
            </a:r>
            <a:br>
              <a:rPr lang="en-US" b="0"/>
            </a:br>
            <a:endParaRPr/>
          </a:p>
        </p:txBody>
      </p:sp>
      <p:sp>
        <p:nvSpPr>
          <p:cNvPr id="399" name="Google Shape;399;p27"/>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Interest rate changes in 2026 had limited immediate impact on rental supply</a:t>
            </a:r>
            <a:endParaRPr/>
          </a:p>
          <a:p>
            <a:pPr marL="228600" lvl="0" indent="-228600" algn="l" rtl="0">
              <a:lnSpc>
                <a:spcPct val="110000"/>
              </a:lnSpc>
              <a:spcBef>
                <a:spcPts val="1000"/>
              </a:spcBef>
              <a:spcAft>
                <a:spcPts val="0"/>
              </a:spcAft>
              <a:buClr>
                <a:schemeClr val="dk1"/>
              </a:buClr>
              <a:buSzPts val="1800"/>
              <a:buChar char="•"/>
            </a:pPr>
            <a:r>
              <a:rPr lang="en-US"/>
              <a:t>Supply surge primarily driven by local factors</a:t>
            </a:r>
            <a:endParaRPr/>
          </a:p>
          <a:p>
            <a:pPr marL="228600" lvl="0" indent="-228600" algn="l" rtl="0">
              <a:lnSpc>
                <a:spcPct val="110000"/>
              </a:lnSpc>
              <a:spcBef>
                <a:spcPts val="1000"/>
              </a:spcBef>
              <a:spcAft>
                <a:spcPts val="0"/>
              </a:spcAft>
              <a:buClr>
                <a:schemeClr val="dk1"/>
              </a:buClr>
              <a:buSzPts val="1800"/>
              <a:buChar char="•"/>
            </a:pPr>
            <a:r>
              <a:rPr lang="en-US"/>
              <a:t>Rental prices are influenced with a delay, especially for larger properties</a:t>
            </a:r>
            <a:endParaRPr/>
          </a:p>
          <a:p>
            <a:pPr marL="228600" lvl="0" indent="-228600" algn="l" rtl="0">
              <a:lnSpc>
                <a:spcPct val="110000"/>
              </a:lnSpc>
              <a:spcBef>
                <a:spcPts val="1000"/>
              </a:spcBef>
              <a:spcAft>
                <a:spcPts val="0"/>
              </a:spcAft>
              <a:buSzPts val="1800"/>
              <a:buChar char="•"/>
            </a:pPr>
            <a:r>
              <a:rPr lang="en-US"/>
              <a:t>Homes cost approx $230 more than Apt/Condo - additional Sq. Ft. cost the same.</a:t>
            </a:r>
            <a:endParaRPr/>
          </a:p>
          <a:p>
            <a:pPr marL="228600" lvl="0" indent="-228600" algn="l" rtl="0">
              <a:lnSpc>
                <a:spcPct val="110000"/>
              </a:lnSpc>
              <a:spcBef>
                <a:spcPts val="1000"/>
              </a:spcBef>
              <a:spcAft>
                <a:spcPts val="0"/>
              </a:spcAft>
              <a:buSzPts val="1800"/>
              <a:buChar char="•"/>
            </a:pPr>
            <a:r>
              <a:rPr lang="en-US"/>
              <a:t>Townhomes/basement suites offer the best ‘value’ in terms Sq. Ft.</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8"/>
          <p:cNvSpPr txBox="1">
            <a:spLocks noGrp="1"/>
          </p:cNvSpPr>
          <p:nvPr>
            <p:ph type="title"/>
          </p:nvPr>
        </p:nvSpPr>
        <p:spPr>
          <a:xfrm>
            <a:off x="521208" y="978408"/>
            <a:ext cx="11155680" cy="146304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Recommendations &amp; Next Steps</a:t>
            </a:r>
            <a:endParaRPr/>
          </a:p>
        </p:txBody>
      </p:sp>
      <p:sp>
        <p:nvSpPr>
          <p:cNvPr id="405" name="Google Shape;405;p28"/>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Develop neighborhood GIS mapping for detailed insights</a:t>
            </a:r>
            <a:endParaRPr/>
          </a:p>
          <a:p>
            <a:pPr marL="228600" lvl="0" indent="-228600" algn="l" rtl="0">
              <a:lnSpc>
                <a:spcPct val="110000"/>
              </a:lnSpc>
              <a:spcBef>
                <a:spcPts val="1000"/>
              </a:spcBef>
              <a:spcAft>
                <a:spcPts val="0"/>
              </a:spcAft>
              <a:buClr>
                <a:schemeClr val="dk1"/>
              </a:buClr>
              <a:buSzPts val="1800"/>
              <a:buChar char="•"/>
            </a:pPr>
            <a:r>
              <a:rPr lang="en-US"/>
              <a:t>Build ARIMAX models to forecast 2027 rental trends</a:t>
            </a:r>
            <a:endParaRPr/>
          </a:p>
          <a:p>
            <a:pPr marL="228600" lvl="0" indent="-228600" algn="l" rtl="0">
              <a:lnSpc>
                <a:spcPct val="110000"/>
              </a:lnSpc>
              <a:spcBef>
                <a:spcPts val="1000"/>
              </a:spcBef>
              <a:spcAft>
                <a:spcPts val="0"/>
              </a:spcAft>
              <a:buClr>
                <a:schemeClr val="dk1"/>
              </a:buClr>
              <a:buSzPts val="1800"/>
              <a:buChar char="•"/>
            </a:pPr>
            <a:r>
              <a:rPr lang="en-US"/>
              <a:t>Incorporate additional variables: migration, utility costs</a:t>
            </a:r>
            <a:endParaRPr/>
          </a:p>
          <a:p>
            <a:pPr marL="228600" lvl="0" indent="-228600" algn="l" rtl="0">
              <a:lnSpc>
                <a:spcPct val="110000"/>
              </a:lnSpc>
              <a:spcBef>
                <a:spcPts val="1000"/>
              </a:spcBef>
              <a:spcAft>
                <a:spcPts val="0"/>
              </a:spcAft>
              <a:buClr>
                <a:schemeClr val="dk1"/>
              </a:buClr>
              <a:buSzPts val="1800"/>
              <a:buChar char="•"/>
            </a:pPr>
            <a:r>
              <a:rPr lang="en-US"/>
              <a:t>Use findings to inform housing policies, especially for family-sized units</a:t>
            </a:r>
            <a:endParaRPr/>
          </a:p>
          <a:p>
            <a:pPr marL="228600" lvl="0" indent="-114300" algn="l" rtl="0">
              <a:lnSpc>
                <a:spcPct val="110000"/>
              </a:lnSpc>
              <a:spcBef>
                <a:spcPts val="1000"/>
              </a:spcBef>
              <a:spcAft>
                <a:spcPts val="0"/>
              </a:spcAft>
              <a:buClr>
                <a:schemeClr val="dk1"/>
              </a:buClr>
              <a:buSzPts val="18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9"/>
        <p:cNvGrpSpPr/>
        <p:nvPr/>
      </p:nvGrpSpPr>
      <p:grpSpPr>
        <a:xfrm>
          <a:off x="0" y="0"/>
          <a:ext cx="0" cy="0"/>
          <a:chOff x="0" y="0"/>
          <a:chExt cx="0" cy="0"/>
        </a:xfrm>
      </p:grpSpPr>
      <p:sp>
        <p:nvSpPr>
          <p:cNvPr id="410" name="Google Shape;410;p29"/>
          <p:cNvSpPr/>
          <p:nvPr/>
        </p:nvSpPr>
        <p:spPr>
          <a:xfrm>
            <a:off x="517869" y="508090"/>
            <a:ext cx="11153214" cy="149279"/>
          </a:xfrm>
          <a:custGeom>
            <a:avLst/>
            <a:gdLst/>
            <a:ahLst/>
            <a:cxnLst/>
            <a:rect l="l" t="t" r="r" b="b"/>
            <a:pathLst>
              <a:path w="8085002" h="149279" extrusionOk="0">
                <a:moveTo>
                  <a:pt x="0" y="0"/>
                </a:moveTo>
                <a:lnTo>
                  <a:pt x="8085002" y="0"/>
                </a:lnTo>
                <a:lnTo>
                  <a:pt x="8085002" y="149279"/>
                </a:lnTo>
                <a:lnTo>
                  <a:pt x="0" y="14927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1" name="Google Shape;411;p29"/>
          <p:cNvSpPr/>
          <p:nvPr/>
        </p:nvSpPr>
        <p:spPr>
          <a:xfrm>
            <a:off x="517870" y="6209925"/>
            <a:ext cx="11155680" cy="45719"/>
          </a:xfrm>
          <a:custGeom>
            <a:avLst/>
            <a:gdLst/>
            <a:ahLst/>
            <a:cxnLst/>
            <a:rect l="l" t="t" r="r" b="b"/>
            <a:pathLst>
              <a:path w="8715708" h="45719" extrusionOk="0">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2" name="Google Shape;412;p29"/>
          <p:cNvSpPr/>
          <p:nvPr/>
        </p:nvSpPr>
        <p:spPr>
          <a:xfrm>
            <a:off x="0" y="0"/>
            <a:ext cx="12188952" cy="685799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3" name="Google Shape;413;p29"/>
          <p:cNvSpPr txBox="1">
            <a:spLocks noGrp="1"/>
          </p:cNvSpPr>
          <p:nvPr>
            <p:ph type="title"/>
          </p:nvPr>
        </p:nvSpPr>
        <p:spPr>
          <a:xfrm>
            <a:off x="521209" y="971397"/>
            <a:ext cx="3462236" cy="294746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800"/>
              <a:buFont typeface="Arial"/>
              <a:buNone/>
            </a:pPr>
            <a:r>
              <a:rPr lang="en-US" sz="4800"/>
              <a:t>Final Remarks</a:t>
            </a:r>
            <a:br>
              <a:rPr lang="en-US" sz="4800"/>
            </a:br>
            <a:endParaRPr sz="4800"/>
          </a:p>
        </p:txBody>
      </p:sp>
      <p:sp>
        <p:nvSpPr>
          <p:cNvPr id="414" name="Google Shape;414;p29"/>
          <p:cNvSpPr txBox="1">
            <a:spLocks noGrp="1"/>
          </p:cNvSpPr>
          <p:nvPr>
            <p:ph type="body" idx="1"/>
          </p:nvPr>
        </p:nvSpPr>
        <p:spPr>
          <a:xfrm>
            <a:off x="517867" y="4482450"/>
            <a:ext cx="3462236" cy="1724029"/>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2000"/>
              <a:buNone/>
            </a:pPr>
            <a:r>
              <a:rPr lang="en-US" sz="2000" i="1">
                <a:solidFill>
                  <a:schemeClr val="dk1"/>
                </a:solidFill>
                <a:latin typeface="Arial"/>
                <a:ea typeface="Arial"/>
                <a:cs typeface="Arial"/>
                <a:sym typeface="Arial"/>
              </a:rPr>
              <a:t>"Data-driven housing policy is the only way to navigate Alberta’s boom-bust cycles."</a:t>
            </a:r>
            <a:br>
              <a:rPr lang="en-US" sz="2000" i="1">
                <a:solidFill>
                  <a:schemeClr val="dk1"/>
                </a:solidFill>
                <a:latin typeface="Arial"/>
                <a:ea typeface="Arial"/>
                <a:cs typeface="Arial"/>
                <a:sym typeface="Arial"/>
              </a:rPr>
            </a:br>
            <a:endParaRPr sz="2000" i="1">
              <a:solidFill>
                <a:schemeClr val="dk1"/>
              </a:solidFill>
              <a:latin typeface="Arial"/>
              <a:ea typeface="Arial"/>
              <a:cs typeface="Arial"/>
              <a:sym typeface="Arial"/>
            </a:endParaRPr>
          </a:p>
        </p:txBody>
      </p:sp>
      <p:sp>
        <p:nvSpPr>
          <p:cNvPr id="415" name="Google Shape;415;p29"/>
          <p:cNvSpPr/>
          <p:nvPr/>
        </p:nvSpPr>
        <p:spPr>
          <a:xfrm>
            <a:off x="517868" y="508090"/>
            <a:ext cx="3465576" cy="14927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16" name="Google Shape;416;p29" descr="The History of Financial Cycles snbchf.com"/>
          <p:cNvPicPr preferRelativeResize="0"/>
          <p:nvPr/>
        </p:nvPicPr>
        <p:blipFill rotWithShape="1">
          <a:blip r:embed="rId3">
            <a:alphaModFix/>
          </a:blip>
          <a:srcRect/>
          <a:stretch/>
        </p:blipFill>
        <p:spPr>
          <a:xfrm>
            <a:off x="4371704" y="700896"/>
            <a:ext cx="7293594" cy="5433727"/>
          </a:xfrm>
          <a:prstGeom prst="rect">
            <a:avLst/>
          </a:prstGeom>
          <a:noFill/>
          <a:ln>
            <a:noFill/>
          </a:ln>
        </p:spPr>
      </p:pic>
      <p:sp>
        <p:nvSpPr>
          <p:cNvPr id="417" name="Google Shape;417;p29"/>
          <p:cNvSpPr/>
          <p:nvPr/>
        </p:nvSpPr>
        <p:spPr>
          <a:xfrm>
            <a:off x="4371704" y="6300216"/>
            <a:ext cx="7293604"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0"/>
          <p:cNvSpPr txBox="1">
            <a:spLocks noGrp="1"/>
          </p:cNvSpPr>
          <p:nvPr>
            <p:ph type="title"/>
          </p:nvPr>
        </p:nvSpPr>
        <p:spPr>
          <a:xfrm>
            <a:off x="521208" y="978408"/>
            <a:ext cx="11155680" cy="82961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rial"/>
              <a:buNone/>
            </a:pPr>
            <a:r>
              <a:rPr lang="en-US"/>
              <a:t>References </a:t>
            </a:r>
            <a:endParaRPr/>
          </a:p>
        </p:txBody>
      </p:sp>
      <p:sp>
        <p:nvSpPr>
          <p:cNvPr id="423" name="Google Shape;423;p30"/>
          <p:cNvSpPr txBox="1">
            <a:spLocks noGrp="1"/>
          </p:cNvSpPr>
          <p:nvPr>
            <p:ph type="body" idx="1"/>
          </p:nvPr>
        </p:nvSpPr>
        <p:spPr>
          <a:xfrm>
            <a:off x="521208" y="2578608"/>
            <a:ext cx="11155680" cy="376732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1800"/>
              <a:buChar char="•"/>
            </a:pPr>
            <a:r>
              <a:rPr lang="en-US"/>
              <a:t>Bank of Canada. (2024). </a:t>
            </a:r>
            <a:r>
              <a:rPr lang="en-US" i="1"/>
              <a:t>Policy interest rate</a:t>
            </a:r>
            <a:r>
              <a:rPr lang="en-US"/>
              <a:t>. Bank of Canada. Retrieved February 20, 2026, from https://www.bankofcanada.ca/rates/interest-rates/</a:t>
            </a:r>
            <a:endParaRPr/>
          </a:p>
          <a:p>
            <a:pPr marL="228600" lvl="0" indent="-228600" algn="l" rtl="0">
              <a:lnSpc>
                <a:spcPct val="110000"/>
              </a:lnSpc>
              <a:spcBef>
                <a:spcPts val="1000"/>
              </a:spcBef>
              <a:spcAft>
                <a:spcPts val="0"/>
              </a:spcAft>
              <a:buClr>
                <a:schemeClr val="dk1"/>
              </a:buClr>
              <a:buSzPts val="1800"/>
              <a:buChar char="•"/>
            </a:pPr>
            <a:r>
              <a:rPr lang="en-US"/>
              <a:t>Canada Mortgage and Housing Corporation. (2024). </a:t>
            </a:r>
            <a:r>
              <a:rPr lang="en-US" i="1"/>
              <a:t>Rental market report</a:t>
            </a:r>
            <a:r>
              <a:rPr lang="en-US"/>
              <a:t>. CMHC. Retrieved February 20, 2026, from https://www.cmhc-schl.gc.ca/en/professionals/housing-markets-data-and-research</a:t>
            </a:r>
            <a:endParaRPr/>
          </a:p>
          <a:p>
            <a:pPr marL="228600" lvl="0" indent="-228600" algn="l" rtl="0">
              <a:lnSpc>
                <a:spcPct val="110000"/>
              </a:lnSpc>
              <a:spcBef>
                <a:spcPts val="1000"/>
              </a:spcBef>
              <a:spcAft>
                <a:spcPts val="0"/>
              </a:spcAft>
              <a:buClr>
                <a:schemeClr val="dk1"/>
              </a:buClr>
              <a:buSzPts val="1800"/>
              <a:buChar char="•"/>
            </a:pPr>
            <a:r>
              <a:rPr lang="en-US"/>
              <a:t>Government of Alberta. (2024). </a:t>
            </a:r>
            <a:r>
              <a:rPr lang="en-US" i="1"/>
              <a:t>Alberta population statistics</a:t>
            </a:r>
            <a:r>
              <a:rPr lang="en-US"/>
              <a:t>. Government of Alberta. Retrieved February 20, 2026, from https://www.alberta.ca/population-statistics.aspx</a:t>
            </a:r>
            <a:endParaRPr/>
          </a:p>
          <a:p>
            <a:pPr marL="228600" lvl="0" indent="-228600" algn="l" rtl="0">
              <a:lnSpc>
                <a:spcPct val="110000"/>
              </a:lnSpc>
              <a:spcBef>
                <a:spcPts val="1000"/>
              </a:spcBef>
              <a:spcAft>
                <a:spcPts val="0"/>
              </a:spcAft>
              <a:buClr>
                <a:schemeClr val="dk1"/>
              </a:buClr>
              <a:buSzPts val="1800"/>
              <a:buChar char="•"/>
            </a:pPr>
            <a:r>
              <a:rPr lang="en-US"/>
              <a:t>Statistics Canada. (2024). </a:t>
            </a:r>
            <a:r>
              <a:rPr lang="en-US" i="1"/>
              <a:t>Interprovincial migration, by province and territory</a:t>
            </a:r>
            <a:r>
              <a:rPr lang="en-US"/>
              <a:t>. Statistics Canada. Retrieved February 20, 2026, from https://www150.statcan.gc.ca/n1/daily-quotidien/220630/dq220630b-eng.htm</a:t>
            </a:r>
            <a:endParaRPr/>
          </a:p>
        </p:txBody>
      </p:sp>
    </p:spTree>
  </p:cSld>
  <p:clrMapOvr>
    <a:masterClrMapping/>
  </p:clrMapOvr>
</p:sld>
</file>

<file path=ppt/theme/theme1.xml><?xml version="1.0" encoding="utf-8"?>
<a:theme xmlns:a="http://schemas.openxmlformats.org/drawingml/2006/main"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2449</Words>
  <Application>Microsoft Office PowerPoint</Application>
  <PresentationFormat>Widescreen</PresentationFormat>
  <Paragraphs>219</Paragraphs>
  <Slides>33</Slides>
  <Notes>33</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33</vt:i4>
      </vt:variant>
    </vt:vector>
  </HeadingPairs>
  <TitlesOfParts>
    <vt:vector size="36" baseType="lpstr">
      <vt:lpstr>Arial</vt:lpstr>
      <vt:lpstr>GestaltVTI</vt:lpstr>
      <vt:lpstr>GestaltVTI</vt:lpstr>
      <vt:lpstr>The Impact of Monetary Policy on Calgary's Rental Market (2026)</vt:lpstr>
      <vt:lpstr>Introduction</vt:lpstr>
      <vt:lpstr>Motivation</vt:lpstr>
      <vt:lpstr>Key Research Questions</vt:lpstr>
      <vt:lpstr>Methodology Overview</vt:lpstr>
      <vt:lpstr>Data Collection &amp; Technical Workflow</vt:lpstr>
      <vt:lpstr>Data Sources &amp; Variables</vt:lpstr>
      <vt:lpstr>Data Preparation &amp; Cleaning</vt:lpstr>
      <vt:lpstr>Exploratory Data Analysis (EDA) &amp; Visualization</vt:lpstr>
      <vt:lpstr>Analytical Techniques</vt:lpstr>
      <vt:lpstr>Research Question 1 — Rental Inventory &amp; Interest Rates </vt:lpstr>
      <vt:lpstr>Visual — Scatterplot of Policy Rate vs Rental Inventory </vt:lpstr>
      <vt:lpstr>Results for Q1 — Rental Inventory &amp; Rate</vt:lpstr>
      <vt:lpstr>Secondary Question 1.2 — Lagged Effects on Rental Prices </vt:lpstr>
      <vt:lpstr> Summary — Q1 Findings</vt:lpstr>
      <vt:lpstr>Research Question 2 — Property Features &amp; Rent Prices </vt:lpstr>
      <vt:lpstr> Results for Q2 — Property Features &amp; Rent </vt:lpstr>
      <vt:lpstr>Visual — Boxplots of Rent by Bedrooms &amp; Property Type </vt:lpstr>
      <vt:lpstr>Figures – Impact of Features &amp; Market Inter-Correlations</vt:lpstr>
      <vt:lpstr>Key Takeaway — Q2 </vt:lpstr>
      <vt:lpstr>Research Question 3 — Landlord Incentives &amp; Market Conditions </vt:lpstr>
      <vt:lpstr>Results for Q3 — Landlord Incentives &amp; Market Conditions  The logistic regression model did not work.</vt:lpstr>
      <vt:lpstr>Research Question 3 — Cost of additional Sq. ft. vs Property Type</vt:lpstr>
      <vt:lpstr>Research Question 3 — Cost of additional Sq. ft. vs Property Type</vt:lpstr>
      <vt:lpstr>Research Question 3 — Cost of additional Sq. ft. vs Property Type</vt:lpstr>
      <vt:lpstr>Research Question 3 — Cost of additional Sq. ft. vs Property Type</vt:lpstr>
      <vt:lpstr>Summary — Q3</vt:lpstr>
      <vt:lpstr>Overall Market Insights </vt:lpstr>
      <vt:lpstr>Limitations of the Study </vt:lpstr>
      <vt:lpstr>Conclusions </vt:lpstr>
      <vt:lpstr>Recommendations &amp; Next Steps</vt:lpstr>
      <vt:lpstr>Final Remarks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Bhuvan Dubey</dc:creator>
  <cp:lastModifiedBy>Bhuvan Dubey</cp:lastModifiedBy>
  <cp:revision>8</cp:revision>
  <dcterms:created xsi:type="dcterms:W3CDTF">2026-02-23T04:33:57Z</dcterms:created>
  <dcterms:modified xsi:type="dcterms:W3CDTF">2026-02-27T00:22:58Z</dcterms:modified>
</cp:coreProperties>
</file>