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Play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3rtaszJsdyq4y4cNR/nXYyDQW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61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1" name="Google Shape;23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1" name="Google Shape;24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6" name="Google Shape;29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40000">
                <a:srgbClr val="156082">
                  <a:alpha val="0"/>
                </a:srgbClr>
              </a:gs>
              <a:gs pos="100000">
                <a:srgbClr val="0F4861">
                  <a:alpha val="52156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7000">
                <a:srgbClr val="156082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00000">
                <a:srgbClr val="000000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1960"/>
                </a:srgbClr>
              </a:gs>
              <a:gs pos="87000">
                <a:srgbClr val="43AFE2">
                  <a:alpha val="1960"/>
                </a:srgbClr>
              </a:gs>
              <a:gs pos="100000">
                <a:srgbClr val="43AFE2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en-CA" sz="4800">
                <a:solidFill>
                  <a:srgbClr val="FFFFFF"/>
                </a:solidFill>
              </a:rPr>
              <a:t>Cross-Asset and Sector-Wide Analysis to Predict Suncor Returns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CA"/>
              <a:t>DATA 611 - Predictive Analysis | Winter 2026 | Final Project</a:t>
            </a:r>
            <a:endParaRPr b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CA"/>
              <a:t>Group 3 Members: Andrea Abenoja and Bhuvan Dubey</a:t>
            </a:r>
            <a:endParaRPr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l="6325" r="1234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E8E8">
                  <a:alpha val="67843"/>
                </a:srgbClr>
              </a:gs>
              <a:gs pos="10000">
                <a:srgbClr val="E8E8E8">
                  <a:alpha val="67843"/>
                </a:srgbClr>
              </a:gs>
              <a:gs pos="85000">
                <a:srgbClr val="E8E8E8">
                  <a:alpha val="96862"/>
                </a:srgbClr>
              </a:gs>
              <a:gs pos="100000">
                <a:srgbClr val="E8E8E8">
                  <a:alpha val="96862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CA"/>
              <a:t>Introduction</a:t>
            </a:r>
            <a:endParaRPr/>
          </a:p>
        </p:txBody>
      </p:sp>
      <p:grpSp>
        <p:nvGrpSpPr>
          <p:cNvPr id="103" name="Google Shape;103;p2"/>
          <p:cNvGrpSpPr/>
          <p:nvPr/>
        </p:nvGrpSpPr>
        <p:grpSpPr>
          <a:xfrm>
            <a:off x="846261" y="1831604"/>
            <a:ext cx="10499477" cy="4339379"/>
            <a:chOff x="8061" y="5979"/>
            <a:chExt cx="10499477" cy="4339379"/>
          </a:xfrm>
        </p:grpSpPr>
        <p:sp>
          <p:nvSpPr>
            <p:cNvPr id="104" name="Google Shape;104;p2"/>
            <p:cNvSpPr/>
            <p:nvPr/>
          </p:nvSpPr>
          <p:spPr>
            <a:xfrm>
              <a:off x="3040792" y="870618"/>
              <a:ext cx="667342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3357014" y="912848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8061" y="5979"/>
              <a:ext cx="3034531" cy="1820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675" tIns="156075" rIns="148675" bIns="156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CA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oil and gas sector is a major contributor to Canada's economy</a:t>
              </a:r>
              <a:endParaRPr sz="1200">
                <a:solidFill>
                  <a:schemeClr val="lt1"/>
                </a:solidFill>
              </a:endParaRPr>
            </a:p>
            <a:p>
              <a:pPr marL="899999" marR="0" lvl="0" indent="-304799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●"/>
              </a:pPr>
              <a:r>
                <a:rPr lang="en-CA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gasoline stations</a:t>
              </a:r>
              <a:endParaRPr sz="1200">
                <a:solidFill>
                  <a:schemeClr val="lt1"/>
                </a:solidFill>
              </a:endParaRPr>
            </a:p>
            <a:p>
              <a:pPr marL="899999" marR="0" lvl="0" indent="-304799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●"/>
              </a:pPr>
              <a:r>
                <a:rPr lang="en-CA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oil drilling</a:t>
              </a:r>
              <a:endParaRPr sz="1200">
                <a:solidFill>
                  <a:schemeClr val="lt1"/>
                </a:solidFill>
              </a:endParaRPr>
            </a:p>
            <a:p>
              <a:pPr marL="899999" marR="0" lvl="0" indent="-304799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●"/>
              </a:pPr>
              <a:r>
                <a:rPr lang="en-CA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refining </a:t>
              </a:r>
              <a:endParaRPr sz="1200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200">
                  <a:solidFill>
                    <a:schemeClr val="lt1"/>
                  </a:solidFill>
                </a:rPr>
                <a:t>r</a:t>
              </a:r>
              <a:r>
                <a:rPr lang="en-CA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ank among the top revenue sectors (Government of Canada, 2024).  </a:t>
              </a:r>
              <a:endParaRPr sz="1100"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773265" y="870618"/>
              <a:ext cx="667342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7089488" y="912848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740534" y="5979"/>
              <a:ext cx="3034531" cy="1820718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3740534" y="5979"/>
              <a:ext cx="3034531" cy="1820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675" tIns="156075" rIns="148675" bIns="156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CA"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Suncor, a key Canadian energy company, operates across these sectors.  </a:t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525326" y="1824897"/>
              <a:ext cx="7464946" cy="66734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3075"/>
                  </a:lnTo>
                  <a:lnTo>
                    <a:pt x="0" y="63075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5070362" y="2155079"/>
              <a:ext cx="374875" cy="6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473007" y="5979"/>
              <a:ext cx="3034531" cy="1820718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7473007" y="5979"/>
              <a:ext cx="3034531" cy="1820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675" tIns="156075" rIns="148675" bIns="156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CA"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 November 2025, Suncor's CEO expressed strong confidence in the company's stock (Suncor Energy, 2025).  </a:t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0792" y="3389279"/>
              <a:ext cx="667342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270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3357014" y="3431509"/>
              <a:ext cx="34897" cy="6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061" y="2524640"/>
              <a:ext cx="3034531" cy="1820718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8061" y="2524640"/>
              <a:ext cx="3034531" cy="1820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675" tIns="156075" rIns="148675" bIns="156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CA"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Stock returns are influenced by broader market factors: crude oil prices, USD/CAD exchange rate, and peer company performances.  </a:t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740534" y="2524640"/>
              <a:ext cx="3034531" cy="1820718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3740534" y="2524640"/>
              <a:ext cx="3034531" cy="1820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675" tIns="156075" rIns="148675" bIns="156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CA" sz="1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Objective: Use supervised learning models to predict Suncor’s daily returns based on these factors.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CA"/>
              <a:t>Data Collection &amp; Methodology Overview</a:t>
            </a:r>
            <a:endParaRPr/>
          </a:p>
        </p:txBody>
      </p:sp>
      <p:grpSp>
        <p:nvGrpSpPr>
          <p:cNvPr id="127" name="Google Shape;127;p3"/>
          <p:cNvGrpSpPr/>
          <p:nvPr/>
        </p:nvGrpSpPr>
        <p:grpSpPr>
          <a:xfrm>
            <a:off x="838200" y="1829024"/>
            <a:ext cx="10515600" cy="4344538"/>
            <a:chOff x="0" y="3399"/>
            <a:chExt cx="10515600" cy="4344538"/>
          </a:xfrm>
        </p:grpSpPr>
        <p:sp>
          <p:nvSpPr>
            <p:cNvPr id="128" name="Google Shape;128;p3"/>
            <p:cNvSpPr/>
            <p:nvPr/>
          </p:nvSpPr>
          <p:spPr>
            <a:xfrm>
              <a:off x="0" y="3399"/>
              <a:ext cx="10515600" cy="724089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19037" y="166319"/>
              <a:ext cx="398249" cy="3982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836323" y="3399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836323" y="3399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625" tIns="76625" rIns="76625" bIns="76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CA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retrieved via GOOGLEFINANCE in Google Sheets for period: Jan 2, 2015 – Jan 1, 2026.  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0" y="908511"/>
              <a:ext cx="10515600" cy="724089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219037" y="1071431"/>
              <a:ext cx="398249" cy="39824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836323" y="908511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836323" y="908511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625" tIns="76625" rIns="76625" bIns="76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CA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Tickers: TSE:SU, NYSEARCA:USO, CURRENCY:USDCAD, NYSE:SHEL, TSE:IMO, TSE:CVE, TSE:CNQ.  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1813624"/>
              <a:ext cx="10515600" cy="724089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19037" y="1976544"/>
              <a:ext cx="398249" cy="39824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836323" y="1813624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836323" y="1813624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625" tIns="76625" rIns="76625" bIns="76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CA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Proxy for crude oil: USO ETF (since Google Finance lacks WTI data).  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0" y="2718736"/>
              <a:ext cx="10515600" cy="724089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19037" y="2881656"/>
              <a:ext cx="398249" cy="39824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836323" y="2718736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836323" y="2718736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625" tIns="76625" rIns="76625" bIns="76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CA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alignment: Constructed a date table, used XLOOKUP for matching prices.  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0" y="3623848"/>
              <a:ext cx="10515600" cy="724089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19037" y="3786768"/>
              <a:ext cx="398249" cy="39824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836323" y="3623848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836323" y="3623848"/>
              <a:ext cx="9679276" cy="724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625" tIns="76625" rIns="76625" bIns="76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CA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Daily returns formula: (Current Day’s Closing Price - Previous Day’s Closing Price)/Previous Day’s Closing Price</a:t>
              </a:r>
              <a:endParaRPr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CA" sz="4000">
                <a:solidFill>
                  <a:srgbClr val="FFFFFF"/>
                </a:solidFill>
              </a:rPr>
              <a:t>Final Dataset &amp; Data Processing</a:t>
            </a:r>
            <a:endParaRPr/>
          </a:p>
        </p:txBody>
      </p:sp>
      <p:sp>
        <p:nvSpPr>
          <p:cNvPr id="160" name="Google Shape;160;p4"/>
          <p:cNvSpPr txBox="1"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Columns: 8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Date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suncor_daily_return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USOF_daily_return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USDtoCAD_daily_return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shell_daily_return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imperial_oil_daily_return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cenovus_daily_return</a:t>
            </a:r>
            <a:endParaRPr sz="2000"/>
          </a:p>
          <a:p>
            <a:pPr marL="685800" lvl="1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cnrl_daily_return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Observations: 2,769.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Exported with formula values for Python analysis.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en-CA" sz="3600">
                <a:solidFill>
                  <a:schemeClr val="dk2"/>
                </a:solidFill>
              </a:rPr>
              <a:t>Analytical Methods Overview</a:t>
            </a:r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body" idx="1"/>
          </p:nvPr>
        </p:nvSpPr>
        <p:spPr>
          <a:xfrm>
            <a:off x="804672" y="2421682"/>
            <a:ext cx="4977578" cy="363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CA" sz="1800">
                <a:solidFill>
                  <a:schemeClr val="dk2"/>
                </a:solidFill>
              </a:rPr>
              <a:t>Models employed: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CA" sz="1800">
                <a:solidFill>
                  <a:schemeClr val="dk2"/>
                </a:solidFill>
              </a:rPr>
              <a:t>Multiple Linear Regression (MLR) for interpretability.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CA" sz="1800">
                <a:solidFill>
                  <a:schemeClr val="dk2"/>
                </a:solidFill>
              </a:rPr>
              <a:t>Random Forest Regression for capturing nonlinearities.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CA" sz="1800">
                <a:solidFill>
                  <a:schemeClr val="dk2"/>
                </a:solidFill>
              </a:rPr>
              <a:t>Evaluation metrics: RMSE, Adjusted R², ROC AUC (for classification).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-CA" sz="1800">
                <a:solidFill>
                  <a:schemeClr val="dk2"/>
                </a:solidFill>
              </a:rPr>
              <a:t>Data split: 70% training, 30% testing, respecting time series order.</a:t>
            </a:r>
            <a:endParaRPr/>
          </a:p>
        </p:txBody>
      </p:sp>
      <p:grpSp>
        <p:nvGrpSpPr>
          <p:cNvPr id="169" name="Google Shape;169;p5"/>
          <p:cNvGrpSpPr/>
          <p:nvPr/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0" name="Google Shape;170;p5"/>
            <p:cNvSpPr/>
            <p:nvPr/>
          </p:nvSpPr>
          <p:spPr>
            <a:xfrm>
              <a:off x="6357228" y="0"/>
              <a:ext cx="5822102" cy="6685267"/>
            </a:xfrm>
            <a:custGeom>
              <a:avLst/>
              <a:gdLst/>
              <a:ahLst/>
              <a:cxnLst/>
              <a:rect l="l" t="t" r="r" b="b"/>
              <a:pathLst>
                <a:path w="5822102" h="6685267" extrusionOk="0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6404998" y="98659"/>
              <a:ext cx="5774333" cy="6315453"/>
            </a:xfrm>
            <a:custGeom>
              <a:avLst/>
              <a:gdLst/>
              <a:ahLst/>
              <a:cxnLst/>
              <a:rect l="l" t="t" r="r" b="b"/>
              <a:pathLst>
                <a:path w="5774333" h="6315453" extrusionOk="0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6410220" y="131729"/>
              <a:ext cx="5769111" cy="6229400"/>
            </a:xfrm>
            <a:custGeom>
              <a:avLst/>
              <a:gdLst/>
              <a:ahLst/>
              <a:cxnLst/>
              <a:rect l="l" t="t" r="r" b="b"/>
              <a:pathLst>
                <a:path w="5769111" h="6229400" extrusionOk="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6410220" y="131729"/>
              <a:ext cx="5769111" cy="6229400"/>
            </a:xfrm>
            <a:custGeom>
              <a:avLst/>
              <a:gdLst/>
              <a:ahLst/>
              <a:cxnLst/>
              <a:rect l="l" t="t" r="r" b="b"/>
              <a:pathLst>
                <a:path w="5769111" h="6229400" extrusionOk="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4" name="Google Shape;174;p5" descr="Statistic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1726" y="1629089"/>
            <a:ext cx="3620021" cy="362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CA" sz="3200"/>
              <a:t>MLR Diagnostics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 l="5533" r="765" b="1"/>
          <a:stretch/>
        </p:blipFill>
        <p:spPr>
          <a:xfrm>
            <a:off x="631975" y="631049"/>
            <a:ext cx="2621701" cy="269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 l="4072" r="4" b="5"/>
          <a:stretch/>
        </p:blipFill>
        <p:spPr>
          <a:xfrm>
            <a:off x="3338174" y="631048"/>
            <a:ext cx="2621700" cy="269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5">
            <a:alphaModFix/>
          </a:blip>
          <a:srcRect l="625" r="-1" b="-2"/>
          <a:stretch/>
        </p:blipFill>
        <p:spPr>
          <a:xfrm>
            <a:off x="6044376" y="631048"/>
            <a:ext cx="2621701" cy="269201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 txBox="1">
            <a:spLocks noGrp="1"/>
          </p:cNvSpPr>
          <p:nvPr>
            <p:ph type="body" idx="1"/>
          </p:nvPr>
        </p:nvSpPr>
        <p:spPr>
          <a:xfrm>
            <a:off x="5162719" y="4495568"/>
            <a:ext cx="6586915" cy="190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CA" sz="1800"/>
              <a:t>Residual normality issues: Deviations seen in Q-Q Plot.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CA" sz="1800"/>
              <a:t>No heteroscedasticity: Residuals vs. predicted plot.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CA" sz="1800"/>
              <a:t>Influential observations: 5 points identified via Cook’s Distance.</a:t>
            </a:r>
            <a:endParaRPr sz="1800"/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6075" y="832401"/>
            <a:ext cx="2945225" cy="2466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630900" y="639525"/>
            <a:ext cx="91347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Play"/>
              <a:buNone/>
            </a:pPr>
            <a:r>
              <a:rPr lang="en-CA" sz="3800"/>
              <a:t>MLR Results – Model Performance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30928" y="1530456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1"/>
          </p:nvPr>
        </p:nvSpPr>
        <p:spPr>
          <a:xfrm>
            <a:off x="630900" y="2159488"/>
            <a:ext cx="9765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Adjusted R² = 0.755 on test data (explains 75.5% of variance).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RMSE = 0.00630 (prediction error).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CA" sz="1600"/>
              <a:t>50.6% lower than baseline prediction error</a:t>
            </a:r>
            <a:endParaRPr sz="2200"/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3">
            <a:alphaModFix/>
          </a:blip>
          <a:srcRect r="42132" b="-10"/>
          <a:stretch/>
        </p:blipFill>
        <p:spPr>
          <a:xfrm>
            <a:off x="673024" y="4491275"/>
            <a:ext cx="10845949" cy="4165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 l="57869" b="-10"/>
          <a:stretch/>
        </p:blipFill>
        <p:spPr>
          <a:xfrm>
            <a:off x="3854550" y="5036925"/>
            <a:ext cx="7664425" cy="4165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532750" y="4358900"/>
            <a:ext cx="11220000" cy="126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Play"/>
              <a:buNone/>
            </a:pPr>
            <a:r>
              <a:rPr lang="en-CA" sz="3800"/>
              <a:t>Actual vs. Predicted – MLR</a:t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43278" y="2573756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Predictions generally follow actual returns but tend to underestimate during large market swings.</a:t>
            </a:r>
            <a:endParaRPr sz="2200"/>
          </a:p>
        </p:txBody>
      </p:sp>
      <p:pic>
        <p:nvPicPr>
          <p:cNvPr id="207" name="Google Shape;20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4296" y="1720330"/>
            <a:ext cx="6903720" cy="341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>
            <a:spLocks noGrp="1"/>
          </p:cNvSpPr>
          <p:nvPr>
            <p:ph type="title"/>
          </p:nvPr>
        </p:nvSpPr>
        <p:spPr>
          <a:xfrm>
            <a:off x="464200" y="640825"/>
            <a:ext cx="3586500" cy="55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Play"/>
              <a:buNone/>
            </a:pPr>
            <a:r>
              <a:rPr lang="en-CA" sz="4600"/>
              <a:t>Random Forest Regression – Performance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 flipH="1">
            <a:off x="4267200" y="630936"/>
            <a:ext cx="18288" cy="5590381"/>
          </a:xfrm>
          <a:custGeom>
            <a:avLst/>
            <a:gdLst/>
            <a:ahLst/>
            <a:cxnLst/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4296" y="881345"/>
            <a:ext cx="6894576" cy="341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>
            <a:spLocks noGrp="1"/>
          </p:cNvSpPr>
          <p:nvPr>
            <p:ph type="body" idx="1"/>
          </p:nvPr>
        </p:nvSpPr>
        <p:spPr>
          <a:xfrm>
            <a:off x="4654296" y="4798577"/>
            <a:ext cx="6894576" cy="142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RMSE = 0.006265, indicating high accuracy.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Predicted vs. actual returns are closely aligned.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0" y="0"/>
            <a:ext cx="5653438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CA" sz="3400"/>
              <a:t>Feature Importance (Random Forest)</a:t>
            </a:r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body" idx="1"/>
          </p:nvPr>
        </p:nvSpPr>
        <p:spPr>
          <a:xfrm>
            <a:off x="862366" y="2194102"/>
            <a:ext cx="3427001" cy="390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Top predictors: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Imperial Oil: 0.3185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CNRL: 0.2508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Cenovus: 0.2214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Shell: 0.1236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USO: 0.0624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USD/CAD: 0.0233</a:t>
            </a:r>
            <a:endParaRPr sz="2000"/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5457" y="1432756"/>
            <a:ext cx="6155141" cy="401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 txBox="1"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Play"/>
              <a:buNone/>
            </a:pPr>
            <a:r>
              <a:rPr lang="en-CA" sz="3800"/>
              <a:t>Partial Dependence Plots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43278" y="2573756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 txBox="1"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Show how changes in top features influence Suncor’s returns.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Increasing Imperial Oil, CNRL, Cenovus returns correlates with Suncor’s rise.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CA" sz="2200"/>
              <a:t>External signals (USO, USD/CAD) have more gradual, weaker effects.</a:t>
            </a:r>
            <a:endParaRPr sz="2200"/>
          </a:p>
        </p:txBody>
      </p:sp>
      <p:pic>
        <p:nvPicPr>
          <p:cNvPr id="237" name="Google Shape;23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4296" y="1219809"/>
            <a:ext cx="6903720" cy="441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-1" y="0"/>
            <a:ext cx="4455673" cy="6858000"/>
          </a:xfrm>
          <a:custGeom>
            <a:avLst/>
            <a:gdLst/>
            <a:ahLst/>
            <a:cxnLst/>
            <a:rect l="l" t="t" r="r" b="b"/>
            <a:pathLst>
              <a:path w="4455673" h="6858000" extrusionOk="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algn="l" rotWithShape="0">
              <a:srgbClr val="D8D8D8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0" y="0"/>
            <a:ext cx="4446529" cy="6858000"/>
          </a:xfrm>
          <a:custGeom>
            <a:avLst/>
            <a:gdLst/>
            <a:ahLst/>
            <a:cxnLst/>
            <a:rect l="l" t="t" r="r" b="b"/>
            <a:pathLst>
              <a:path w="4446529" h="6858000" extrusionOk="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 txBox="1"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en-CA" sz="2800"/>
              <a:t>Direction Prediction – ROC Curve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>
            <a:spLocks noGrp="1"/>
          </p:cNvSpPr>
          <p:nvPr>
            <p:ph type="body" idx="1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CA" sz="1700"/>
              <a:t>AUC = 0.964, indicating excellent discrimination between positive and negative return days.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CA" sz="1700"/>
              <a:t>Useful for trading strategies.</a:t>
            </a:r>
            <a:endParaRPr sz="1700"/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8596" y="843533"/>
            <a:ext cx="6662682" cy="52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CA" sz="4000">
                <a:solidFill>
                  <a:srgbClr val="FFFFFF"/>
                </a:solidFill>
              </a:rPr>
              <a:t>Discussion – Key Insights</a:t>
            </a:r>
            <a:endParaRPr/>
          </a:p>
        </p:txBody>
      </p:sp>
      <p:grpSp>
        <p:nvGrpSpPr>
          <p:cNvPr id="263" name="Google Shape;263;p13"/>
          <p:cNvGrpSpPr/>
          <p:nvPr/>
        </p:nvGrpSpPr>
        <p:grpSpPr>
          <a:xfrm>
            <a:off x="4905052" y="831084"/>
            <a:ext cx="6666833" cy="5292631"/>
            <a:chOff x="0" y="80644"/>
            <a:chExt cx="6666833" cy="5292631"/>
          </a:xfrm>
        </p:grpSpPr>
        <p:sp>
          <p:nvSpPr>
            <p:cNvPr id="264" name="Google Shape;264;p13"/>
            <p:cNvSpPr/>
            <p:nvPr/>
          </p:nvSpPr>
          <p:spPr>
            <a:xfrm>
              <a:off x="0" y="80644"/>
              <a:ext cx="6666833" cy="170469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3"/>
            <p:cNvSpPr txBox="1"/>
            <p:nvPr/>
          </p:nvSpPr>
          <p:spPr>
            <a:xfrm>
              <a:off x="83216" y="163860"/>
              <a:ext cx="6500401" cy="1538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lang="en-CA" sz="3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Sector peers and currency exchange are primary drivers of Suncor’s returns.  </a:t>
              </a:r>
              <a:endParaRPr sz="3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0" y="1874614"/>
              <a:ext cx="6666833" cy="170469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F7FAD"/>
                </a:gs>
                <a:gs pos="50000">
                  <a:srgbClr val="246EA7"/>
                </a:gs>
                <a:gs pos="100000">
                  <a:srgbClr val="1A62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3"/>
            <p:cNvSpPr txBox="1"/>
            <p:nvPr/>
          </p:nvSpPr>
          <p:spPr>
            <a:xfrm>
              <a:off x="83216" y="1957830"/>
              <a:ext cx="6500401" cy="1538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lang="en-CA" sz="3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Nonlinear models capture complex relationships better than linear models.  </a:t>
              </a:r>
              <a:endParaRPr sz="3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0" y="3668585"/>
              <a:ext cx="6666833" cy="170469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3B150"/>
                </a:gs>
                <a:gs pos="50000">
                  <a:srgbClr val="48AC24"/>
                </a:gs>
                <a:gs pos="100000">
                  <a:srgbClr val="3D9D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3"/>
            <p:cNvSpPr txBox="1"/>
            <p:nvPr/>
          </p:nvSpPr>
          <p:spPr>
            <a:xfrm>
              <a:off x="83216" y="3751801"/>
              <a:ext cx="6500401" cy="1538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Arial"/>
                <a:buNone/>
              </a:pPr>
              <a:r>
                <a:rPr lang="en-CA" sz="3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External market signals have a smaller but still significant impact.  </a:t>
              </a:r>
              <a:endParaRPr sz="3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p14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277" name="Google Shape;277;p1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14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CA" sz="4800"/>
              <a:t>Limitations &amp; Future Directions</a:t>
            </a:r>
            <a:endParaRPr/>
          </a:p>
        </p:txBody>
      </p:sp>
      <p:cxnSp>
        <p:nvCxnSpPr>
          <p:cNvPr id="282" name="Google Shape;282;p14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83" name="Google Shape;283;p14"/>
          <p:cNvGrpSpPr/>
          <p:nvPr/>
        </p:nvGrpSpPr>
        <p:grpSpPr>
          <a:xfrm>
            <a:off x="904602" y="3541652"/>
            <a:ext cx="10378439" cy="2161634"/>
            <a:chOff x="0" y="524133"/>
            <a:chExt cx="10378439" cy="2161634"/>
          </a:xfrm>
        </p:grpSpPr>
        <p:sp>
          <p:nvSpPr>
            <p:cNvPr id="284" name="Google Shape;284;p14"/>
            <p:cNvSpPr/>
            <p:nvPr/>
          </p:nvSpPr>
          <p:spPr>
            <a:xfrm>
              <a:off x="0" y="524133"/>
              <a:ext cx="2918936" cy="1853524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324326" y="832243"/>
              <a:ext cx="2918936" cy="1853524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/>
            <p:cNvSpPr txBox="1"/>
            <p:nvPr/>
          </p:nvSpPr>
          <p:spPr>
            <a:xfrm>
              <a:off x="378614" y="886531"/>
              <a:ext cx="2810360" cy="1744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CA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Reliance on historical data which limits the prediction of shocks  </a:t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3567588" y="524133"/>
              <a:ext cx="2918936" cy="1853524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891915" y="832243"/>
              <a:ext cx="2918936" cy="1853524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/>
            <p:cNvSpPr txBox="1"/>
            <p:nvPr/>
          </p:nvSpPr>
          <p:spPr>
            <a:xfrm>
              <a:off x="3946203" y="886531"/>
              <a:ext cx="2810360" cy="1744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CA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Need to include macroeconomic indicators and volatility measures  </a:t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7135177" y="524133"/>
              <a:ext cx="2918936" cy="1853524"/>
            </a:xfrm>
            <a:prstGeom prst="roundRect">
              <a:avLst>
                <a:gd name="adj" fmla="val 10000"/>
              </a:avLst>
            </a:prstGeom>
            <a:solidFill>
              <a:srgbClr val="0B2741"/>
            </a:solidFill>
            <a:ln w="190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7459503" y="832243"/>
              <a:ext cx="2918936" cy="1853524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9050" cap="flat" cmpd="sng">
              <a:solidFill>
                <a:srgbClr val="0B274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 txBox="1"/>
            <p:nvPr/>
          </p:nvSpPr>
          <p:spPr>
            <a:xfrm>
              <a:off x="7513791" y="886531"/>
              <a:ext cx="2810360" cy="1744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CA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Future work should focus on integrating diverse data sources for improved predictions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CA" sz="3200"/>
              <a:t>Conclusions</a:t>
            </a:r>
            <a:endParaRPr/>
          </a:p>
        </p:txBody>
      </p:sp>
      <p:pic>
        <p:nvPicPr>
          <p:cNvPr id="299" name="Google Shape;299;p15" descr="Vibrant green forest"/>
          <p:cNvPicPr preferRelativeResize="0"/>
          <p:nvPr/>
        </p:nvPicPr>
        <p:blipFill rotWithShape="1">
          <a:blip r:embed="rId3">
            <a:alphaModFix/>
          </a:blip>
          <a:srcRect l="22430" r="27432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15"/>
          <p:cNvCxnSpPr/>
          <p:nvPr/>
        </p:nvCxnSpPr>
        <p:spPr>
          <a:xfrm>
            <a:off x="5971697" y="871146"/>
            <a:ext cx="736939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" name="Google Shape;301;p15"/>
          <p:cNvSpPr txBox="1">
            <a:spLocks noGrp="1"/>
          </p:cNvSpPr>
          <p:nvPr>
            <p:ph type="body" idx="1"/>
          </p:nvPr>
        </p:nvSpPr>
        <p:spPr>
          <a:xfrm>
            <a:off x="5868557" y="2551176"/>
            <a:ext cx="5444382" cy="359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MLR explains 75.5% of variance; sector peers and FX are key drivers.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Random Forest provides high predictive accuracy and can capture nonlinear effects.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Sector influence dominates, external signals less so.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Combining models with trading strategies can improve decision-making.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6" descr="A pencil on top of a paper with a printed line graph"/>
          <p:cNvPicPr preferRelativeResize="0"/>
          <p:nvPr/>
        </p:nvPicPr>
        <p:blipFill rotWithShape="1">
          <a:blip r:embed="rId3">
            <a:alphaModFix/>
          </a:blip>
          <a:srcRect l="3045" r="44296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/>
          <p:nvPr/>
        </p:nvSpPr>
        <p:spPr>
          <a:xfrm>
            <a:off x="5410197" y="-1"/>
            <a:ext cx="678180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dist="152400" sx="95000" sy="95000" algn="t" rotWithShape="0">
              <a:srgbClr val="000000">
                <a:alpha val="2901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CA" sz="4000"/>
              <a:t>References </a:t>
            </a:r>
            <a:endParaRPr/>
          </a:p>
        </p:txBody>
      </p:sp>
      <p:sp>
        <p:nvSpPr>
          <p:cNvPr id="311" name="Google Shape;311;p16"/>
          <p:cNvSpPr txBox="1">
            <a:spLocks noGrp="1"/>
          </p:cNvSpPr>
          <p:nvPr>
            <p:ph type="body" idx="1"/>
          </p:nvPr>
        </p:nvSpPr>
        <p:spPr>
          <a:xfrm>
            <a:off x="6115317" y="2743200"/>
            <a:ext cx="5247340" cy="349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CA" sz="1100"/>
              <a:t>Carpenter, J. W. (n.d.). </a:t>
            </a:r>
            <a:r>
              <a:rPr lang="en-CA" sz="1100" i="1"/>
              <a:t>The 10 biggest Canadian Energy Companies</a:t>
            </a:r>
            <a:r>
              <a:rPr lang="en-CA" sz="1100"/>
              <a:t>. Investopedia. https://www.investopedia.com/articles/markets/091115/7-biggest-canadian-energy-companies.asp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CA" sz="1100"/>
              <a:t>Fama, E. F. (1965). The behavior of stock-market prices. The Journal of Business, 38(1), 34-105.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CA" sz="1100"/>
              <a:t>Government of Canada, C. E. R. (2024, July 3). </a:t>
            </a:r>
            <a:r>
              <a:rPr lang="en-CA" sz="1100" i="1"/>
              <a:t>Canada energy regulator / Régie de l’énergie du Canada</a:t>
            </a:r>
            <a:r>
              <a:rPr lang="en-CA" sz="1100"/>
              <a:t>. CER. https://www.cer-rec.gc.ca/en/data-analysis/canada-energy-future/2020/covid/index.html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CA" sz="1100"/>
              <a:t>IBISWorld, Inc. (n.d.). </a:t>
            </a:r>
            <a:r>
              <a:rPr lang="en-CA" sz="1100" i="1"/>
              <a:t>Biggest Industries by revenue in Canada in 2026</a:t>
            </a:r>
            <a:r>
              <a:rPr lang="en-CA" sz="1100"/>
              <a:t>. https://www.ibisworld.com/canada/industry-trends/biggest-industries-by-revenue/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CA" sz="1100"/>
              <a:t>Suncor Energy. (2025, November 5). </a:t>
            </a:r>
            <a:r>
              <a:rPr lang="en-CA" sz="1100" i="1"/>
              <a:t>Suncor Energy third quarter 2025 financial results call</a:t>
            </a:r>
            <a:r>
              <a:rPr lang="en-CA" sz="1100"/>
              <a:t>. https://www.suncor.com/-/media/project/suncor/files/investor-centre/transcripts/2025-q3-suncor-energy-financial-results-call-transcript-en.pdf?modified=20251113152919&amp;created=20251113152919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Microsoft Office PowerPoint</Application>
  <PresentationFormat>Widescreen</PresentationFormat>
  <Paragraphs>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Play</vt:lpstr>
      <vt:lpstr>Arial</vt:lpstr>
      <vt:lpstr>Office Theme</vt:lpstr>
      <vt:lpstr>Cross-Asset and Sector-Wide Analysis to Predict Suncor Returns</vt:lpstr>
      <vt:lpstr>Introduction</vt:lpstr>
      <vt:lpstr>Data Collection &amp; Methodology Overview</vt:lpstr>
      <vt:lpstr>Final Dataset &amp; Data Processing</vt:lpstr>
      <vt:lpstr>Analytical Methods Overview</vt:lpstr>
      <vt:lpstr>MLR Diagnostics</vt:lpstr>
      <vt:lpstr>MLR Results – Model Performance</vt:lpstr>
      <vt:lpstr>Actual vs. Predicted – MLR</vt:lpstr>
      <vt:lpstr>Random Forest Regression – Performance</vt:lpstr>
      <vt:lpstr>Feature Importance (Random Forest)</vt:lpstr>
      <vt:lpstr>Partial Dependence Plots</vt:lpstr>
      <vt:lpstr>Direction Prediction – ROC Curve</vt:lpstr>
      <vt:lpstr>Discussion – Key Insights</vt:lpstr>
      <vt:lpstr>Limitations &amp; Future Directions</vt:lpstr>
      <vt:lpstr>Conclusions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Bhuvan Dubey</dc:creator>
  <cp:lastModifiedBy>Bhuvan Dubey</cp:lastModifiedBy>
  <cp:revision>2</cp:revision>
  <dcterms:created xsi:type="dcterms:W3CDTF">2026-02-24T22:28:42Z</dcterms:created>
  <dcterms:modified xsi:type="dcterms:W3CDTF">2026-02-25T05:44:29Z</dcterms:modified>
</cp:coreProperties>
</file>